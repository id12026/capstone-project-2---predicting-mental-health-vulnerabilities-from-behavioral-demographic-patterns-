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80" r:id="rId4"/>
    <p:sldId id="281" r:id="rId5"/>
    <p:sldId id="297" r:id="rId6"/>
    <p:sldId id="270" r:id="rId7"/>
    <p:sldId id="283" r:id="rId8"/>
    <p:sldId id="284" r:id="rId9"/>
    <p:sldId id="277" r:id="rId10"/>
    <p:sldId id="287" r:id="rId11"/>
    <p:sldId id="282" r:id="rId12"/>
    <p:sldId id="260" r:id="rId13"/>
    <p:sldId id="290" r:id="rId14"/>
    <p:sldId id="296" r:id="rId15"/>
    <p:sldId id="295" r:id="rId16"/>
    <p:sldId id="289" r:id="rId17"/>
    <p:sldId id="279" r:id="rId18"/>
    <p:sldId id="285" r:id="rId19"/>
    <p:sldId id="291" r:id="rId20"/>
    <p:sldId id="292" r:id="rId21"/>
    <p:sldId id="293" r:id="rId22"/>
    <p:sldId id="294" r:id="rId23"/>
    <p:sldId id="26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9903" autoAdjust="0"/>
  </p:normalViewPr>
  <p:slideViewPr>
    <p:cSldViewPr snapToGrid="0">
      <p:cViewPr varScale="1">
        <p:scale>
          <a:sx n="48" d="100"/>
          <a:sy n="48" d="100"/>
        </p:scale>
        <p:origin x="62"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EB54CE-412C-448F-AA2D-42DBE3DE8416}" type="datetimeFigureOut">
              <a:rPr lang="en-IN" smtClean="0"/>
              <a:t>23-02-2026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22A31B-DCBB-4F43-ABAF-EBE2DC50869D}" type="slidenum">
              <a:rPr lang="en-IN" smtClean="0"/>
              <a:t>‹#›</a:t>
            </a:fld>
            <a:endParaRPr lang="en-IN" dirty="0"/>
          </a:p>
        </p:txBody>
      </p:sp>
    </p:spTree>
    <p:extLst>
      <p:ext uri="{BB962C8B-B14F-4D97-AF65-F5344CB8AC3E}">
        <p14:creationId xmlns:p14="http://schemas.microsoft.com/office/powerpoint/2010/main" val="2613801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22A31B-DCBB-4F43-ABAF-EBE2DC50869D}" type="slidenum">
              <a:rPr lang="en-IN" smtClean="0"/>
              <a:t>1</a:t>
            </a:fld>
            <a:endParaRPr lang="en-IN" dirty="0"/>
          </a:p>
        </p:txBody>
      </p:sp>
    </p:spTree>
    <p:extLst>
      <p:ext uri="{BB962C8B-B14F-4D97-AF65-F5344CB8AC3E}">
        <p14:creationId xmlns:p14="http://schemas.microsoft.com/office/powerpoint/2010/main" val="98266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22A31B-DCBB-4F43-ABAF-EBE2DC50869D}" type="slidenum">
              <a:rPr lang="en-IN" smtClean="0"/>
              <a:t>12</a:t>
            </a:fld>
            <a:endParaRPr lang="en-IN" dirty="0"/>
          </a:p>
        </p:txBody>
      </p:sp>
    </p:spTree>
    <p:extLst>
      <p:ext uri="{BB962C8B-B14F-4D97-AF65-F5344CB8AC3E}">
        <p14:creationId xmlns:p14="http://schemas.microsoft.com/office/powerpoint/2010/main" val="2033114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B23B-CEF3-2F42-58BE-F2738E883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40C76-D06D-FE91-AB6A-FF2F90B53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7428D-FA7C-B102-3247-EE09DBA5EB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85E60BF-B543-DBE0-56AC-C81018056839}"/>
              </a:ext>
            </a:extLst>
          </p:cNvPr>
          <p:cNvSpPr>
            <a:spLocks noGrp="1"/>
          </p:cNvSpPr>
          <p:nvPr>
            <p:ph type="sldNum" sz="quarter" idx="5"/>
          </p:nvPr>
        </p:nvSpPr>
        <p:spPr/>
        <p:txBody>
          <a:bodyPr/>
          <a:lstStyle/>
          <a:p>
            <a:fld id="{9222A31B-DCBB-4F43-ABAF-EBE2DC50869D}" type="slidenum">
              <a:rPr lang="en-IN" smtClean="0"/>
              <a:t>13</a:t>
            </a:fld>
            <a:endParaRPr lang="en-IN" dirty="0"/>
          </a:p>
        </p:txBody>
      </p:sp>
    </p:spTree>
    <p:extLst>
      <p:ext uri="{BB962C8B-B14F-4D97-AF65-F5344CB8AC3E}">
        <p14:creationId xmlns:p14="http://schemas.microsoft.com/office/powerpoint/2010/main" val="1780175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99D75-8DD6-6A03-DCCC-8B4C9BCD5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AFB10-A761-A04F-4DDE-259267F0FE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CEEE0-1F9F-E982-EC9F-24A01D5E4A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27C097-D750-2DFC-770C-2D31F3D50D9D}"/>
              </a:ext>
            </a:extLst>
          </p:cNvPr>
          <p:cNvSpPr>
            <a:spLocks noGrp="1"/>
          </p:cNvSpPr>
          <p:nvPr>
            <p:ph type="sldNum" sz="quarter" idx="5"/>
          </p:nvPr>
        </p:nvSpPr>
        <p:spPr/>
        <p:txBody>
          <a:bodyPr/>
          <a:lstStyle/>
          <a:p>
            <a:fld id="{9222A31B-DCBB-4F43-ABAF-EBE2DC50869D}" type="slidenum">
              <a:rPr lang="en-IN" smtClean="0"/>
              <a:t>14</a:t>
            </a:fld>
            <a:endParaRPr lang="en-IN" dirty="0"/>
          </a:p>
        </p:txBody>
      </p:sp>
    </p:spTree>
    <p:extLst>
      <p:ext uri="{BB962C8B-B14F-4D97-AF65-F5344CB8AC3E}">
        <p14:creationId xmlns:p14="http://schemas.microsoft.com/office/powerpoint/2010/main" val="538215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B5F95-9CCD-A094-9D29-9D2157D69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EC5F0-6B3C-0ACF-C3B2-57063D1B3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4A652-5397-FCAB-A496-AF6D188362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BF5A7F-C264-BCED-C80C-21C122C4256B}"/>
              </a:ext>
            </a:extLst>
          </p:cNvPr>
          <p:cNvSpPr>
            <a:spLocks noGrp="1"/>
          </p:cNvSpPr>
          <p:nvPr>
            <p:ph type="sldNum" sz="quarter" idx="5"/>
          </p:nvPr>
        </p:nvSpPr>
        <p:spPr/>
        <p:txBody>
          <a:bodyPr/>
          <a:lstStyle/>
          <a:p>
            <a:fld id="{9222A31B-DCBB-4F43-ABAF-EBE2DC50869D}" type="slidenum">
              <a:rPr lang="en-IN" smtClean="0"/>
              <a:t>15</a:t>
            </a:fld>
            <a:endParaRPr lang="en-IN" dirty="0"/>
          </a:p>
        </p:txBody>
      </p:sp>
    </p:spTree>
    <p:extLst>
      <p:ext uri="{BB962C8B-B14F-4D97-AF65-F5344CB8AC3E}">
        <p14:creationId xmlns:p14="http://schemas.microsoft.com/office/powerpoint/2010/main" val="139402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5AEB6-1629-3F5C-0BF4-73D7EC2A7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00677-3D0C-03D6-C6A9-CC87BC6B9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CFF4F-E9AE-55D0-2791-E8A41CD0E4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C294929-440D-02CF-EDD2-292D0B630CAB}"/>
              </a:ext>
            </a:extLst>
          </p:cNvPr>
          <p:cNvSpPr>
            <a:spLocks noGrp="1"/>
          </p:cNvSpPr>
          <p:nvPr>
            <p:ph type="sldNum" sz="quarter" idx="5"/>
          </p:nvPr>
        </p:nvSpPr>
        <p:spPr/>
        <p:txBody>
          <a:bodyPr/>
          <a:lstStyle/>
          <a:p>
            <a:fld id="{9222A31B-DCBB-4F43-ABAF-EBE2DC50869D}" type="slidenum">
              <a:rPr lang="en-IN" smtClean="0"/>
              <a:t>16</a:t>
            </a:fld>
            <a:endParaRPr lang="en-IN" dirty="0"/>
          </a:p>
        </p:txBody>
      </p:sp>
    </p:spTree>
    <p:extLst>
      <p:ext uri="{BB962C8B-B14F-4D97-AF65-F5344CB8AC3E}">
        <p14:creationId xmlns:p14="http://schemas.microsoft.com/office/powerpoint/2010/main" val="2084081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5930-293F-C478-0F59-D80FB653F3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80AB0-8682-4CAA-3415-6A4DBA4865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BF88F4-5C5B-86FE-E8DD-7C8C68666B27}"/>
              </a:ext>
            </a:extLst>
          </p:cNvPr>
          <p:cNvSpPr>
            <a:spLocks noGrp="1"/>
          </p:cNvSpPr>
          <p:nvPr>
            <p:ph type="dt" sz="half" idx="10"/>
          </p:nvPr>
        </p:nvSpPr>
        <p:spPr/>
        <p:txBody>
          <a:bodyPr/>
          <a:lstStyle/>
          <a:p>
            <a:fld id="{DB0A5EAC-24E8-4D92-8240-06A0A4C0FBF6}" type="datetime1">
              <a:rPr lang="en-IN" smtClean="0"/>
              <a:t>24-02-2026</a:t>
            </a:fld>
            <a:endParaRPr lang="en-IN" dirty="0"/>
          </a:p>
        </p:txBody>
      </p:sp>
      <p:sp>
        <p:nvSpPr>
          <p:cNvPr id="5" name="Footer Placeholder 4">
            <a:extLst>
              <a:ext uri="{FF2B5EF4-FFF2-40B4-BE49-F238E27FC236}">
                <a16:creationId xmlns:a16="http://schemas.microsoft.com/office/drawing/2014/main" id="{5E7534AB-D596-55A2-1C4F-099C8D17E22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8B7EF77-207F-311B-EF3A-E691EEF6851F}"/>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97530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E2891-D56E-1B1B-52C4-28B325A17E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8B39D9-A8DF-591A-ABFB-BB0B2A46A1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A0040F-F04D-5616-072D-84ADD235A041}"/>
              </a:ext>
            </a:extLst>
          </p:cNvPr>
          <p:cNvSpPr>
            <a:spLocks noGrp="1"/>
          </p:cNvSpPr>
          <p:nvPr>
            <p:ph type="dt" sz="half" idx="10"/>
          </p:nvPr>
        </p:nvSpPr>
        <p:spPr/>
        <p:txBody>
          <a:bodyPr/>
          <a:lstStyle/>
          <a:p>
            <a:fld id="{D993D9A1-C6B3-4191-B100-7B6AF58D01AB}" type="datetime1">
              <a:rPr lang="en-IN" smtClean="0"/>
              <a:t>24-02-2026</a:t>
            </a:fld>
            <a:endParaRPr lang="en-IN" dirty="0"/>
          </a:p>
        </p:txBody>
      </p:sp>
      <p:sp>
        <p:nvSpPr>
          <p:cNvPr id="5" name="Footer Placeholder 4">
            <a:extLst>
              <a:ext uri="{FF2B5EF4-FFF2-40B4-BE49-F238E27FC236}">
                <a16:creationId xmlns:a16="http://schemas.microsoft.com/office/drawing/2014/main" id="{73DDE7F0-E318-0248-91C5-2ECDA72578B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2CDAF52-5641-88ED-BC25-AA87F66F7347}"/>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1761388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33D0C-F731-26FC-56DE-B8035E0982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FD02B6-F514-AB4D-9C00-FFCAB7CA2A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38ADF0-97F2-3C37-9DF8-2F81B034994C}"/>
              </a:ext>
            </a:extLst>
          </p:cNvPr>
          <p:cNvSpPr>
            <a:spLocks noGrp="1"/>
          </p:cNvSpPr>
          <p:nvPr>
            <p:ph type="dt" sz="half" idx="10"/>
          </p:nvPr>
        </p:nvSpPr>
        <p:spPr/>
        <p:txBody>
          <a:bodyPr/>
          <a:lstStyle/>
          <a:p>
            <a:fld id="{8BBD6ACE-A615-4811-BCCE-01CBA39506B8}" type="datetime1">
              <a:rPr lang="en-IN" smtClean="0"/>
              <a:t>24-02-2026</a:t>
            </a:fld>
            <a:endParaRPr lang="en-IN" dirty="0"/>
          </a:p>
        </p:txBody>
      </p:sp>
      <p:sp>
        <p:nvSpPr>
          <p:cNvPr id="5" name="Footer Placeholder 4">
            <a:extLst>
              <a:ext uri="{FF2B5EF4-FFF2-40B4-BE49-F238E27FC236}">
                <a16:creationId xmlns:a16="http://schemas.microsoft.com/office/drawing/2014/main" id="{D3C38FCC-AC68-A045-7052-40F17F92DA4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A6BD1DC-D79C-9F34-DA90-359F814854F0}"/>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3595761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9730D-6473-5EDC-BFE9-F79D77E367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D58FA3-5B31-729B-FBA4-7EAE5E75DD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A7A9D9-AA3D-F162-085E-D62BDAFC2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FA7FB2-BA38-7FDB-D3DE-03DFCFC163E7}"/>
              </a:ext>
            </a:extLst>
          </p:cNvPr>
          <p:cNvSpPr>
            <a:spLocks noGrp="1"/>
          </p:cNvSpPr>
          <p:nvPr>
            <p:ph type="dt" sz="half" idx="10"/>
          </p:nvPr>
        </p:nvSpPr>
        <p:spPr/>
        <p:txBody>
          <a:bodyPr/>
          <a:lstStyle/>
          <a:p>
            <a:fld id="{4F9E0244-A056-4A70-B63A-9AD3B8E8F2ED}" type="datetime1">
              <a:rPr lang="en-IN" smtClean="0"/>
              <a:t>24-02-2026</a:t>
            </a:fld>
            <a:endParaRPr lang="en-IN" dirty="0"/>
          </a:p>
        </p:txBody>
      </p:sp>
      <p:sp>
        <p:nvSpPr>
          <p:cNvPr id="6" name="Footer Placeholder 5">
            <a:extLst>
              <a:ext uri="{FF2B5EF4-FFF2-40B4-BE49-F238E27FC236}">
                <a16:creationId xmlns:a16="http://schemas.microsoft.com/office/drawing/2014/main" id="{275BAD9D-F44C-4D36-2493-90F6D630EE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9AD4061D-A189-472B-D507-4600A3297CA3}"/>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838875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7A3C-E164-F655-BE00-36DF58F765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7E9356-F8A2-A72A-11EF-00A12FF657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D156F2-DF5D-0E36-623B-0F16A47A54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B134A0-2764-3FDC-AAA8-0E1FDCF032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41FE3D-CCC0-8677-91AF-6211421B02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575FA07-C0AF-EF77-A903-46877E83C07F}"/>
              </a:ext>
            </a:extLst>
          </p:cNvPr>
          <p:cNvSpPr>
            <a:spLocks noGrp="1"/>
          </p:cNvSpPr>
          <p:nvPr>
            <p:ph type="dt" sz="half" idx="10"/>
          </p:nvPr>
        </p:nvSpPr>
        <p:spPr/>
        <p:txBody>
          <a:bodyPr/>
          <a:lstStyle/>
          <a:p>
            <a:fld id="{11303FAD-32E5-4413-8A3C-178B64E2BC66}" type="datetime1">
              <a:rPr lang="en-IN" smtClean="0"/>
              <a:t>24-02-2026</a:t>
            </a:fld>
            <a:endParaRPr lang="en-IN" dirty="0"/>
          </a:p>
        </p:txBody>
      </p:sp>
      <p:sp>
        <p:nvSpPr>
          <p:cNvPr id="8" name="Footer Placeholder 7">
            <a:extLst>
              <a:ext uri="{FF2B5EF4-FFF2-40B4-BE49-F238E27FC236}">
                <a16:creationId xmlns:a16="http://schemas.microsoft.com/office/drawing/2014/main" id="{1A483595-FA41-D15B-C79A-7E51952EF759}"/>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135FBF08-E442-38CD-56F8-0EF7A53D9A97}"/>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166652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AF3F6-3354-17F5-2B80-4A8D4214726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8E659B-C0FA-0039-5E49-43C6D42F8468}"/>
              </a:ext>
            </a:extLst>
          </p:cNvPr>
          <p:cNvSpPr>
            <a:spLocks noGrp="1"/>
          </p:cNvSpPr>
          <p:nvPr>
            <p:ph type="dt" sz="half" idx="10"/>
          </p:nvPr>
        </p:nvSpPr>
        <p:spPr/>
        <p:txBody>
          <a:bodyPr/>
          <a:lstStyle/>
          <a:p>
            <a:fld id="{014FDA62-4F92-45DC-8F61-D2B9FBFB6023}" type="datetime1">
              <a:rPr lang="en-IN" smtClean="0"/>
              <a:t>24-02-2026</a:t>
            </a:fld>
            <a:endParaRPr lang="en-IN" dirty="0"/>
          </a:p>
        </p:txBody>
      </p:sp>
      <p:sp>
        <p:nvSpPr>
          <p:cNvPr id="4" name="Footer Placeholder 3">
            <a:extLst>
              <a:ext uri="{FF2B5EF4-FFF2-40B4-BE49-F238E27FC236}">
                <a16:creationId xmlns:a16="http://schemas.microsoft.com/office/drawing/2014/main" id="{03A02CC3-B0DA-6C60-E4CA-26798A0995A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C58B9BB6-33DE-4C1B-F2A1-73B553FDA89D}"/>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8970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BA7F59-754C-81A7-18A6-6DADDFC79CBA}"/>
              </a:ext>
            </a:extLst>
          </p:cNvPr>
          <p:cNvSpPr>
            <a:spLocks noGrp="1"/>
          </p:cNvSpPr>
          <p:nvPr>
            <p:ph type="dt" sz="half" idx="10"/>
          </p:nvPr>
        </p:nvSpPr>
        <p:spPr/>
        <p:txBody>
          <a:bodyPr/>
          <a:lstStyle/>
          <a:p>
            <a:fld id="{42CDC5C6-39DE-4C9E-8CCD-E17A8BCEFBC0}" type="datetime1">
              <a:rPr lang="en-IN" smtClean="0"/>
              <a:t>24-02-2026</a:t>
            </a:fld>
            <a:endParaRPr lang="en-IN" dirty="0"/>
          </a:p>
        </p:txBody>
      </p:sp>
      <p:sp>
        <p:nvSpPr>
          <p:cNvPr id="3" name="Footer Placeholder 2">
            <a:extLst>
              <a:ext uri="{FF2B5EF4-FFF2-40B4-BE49-F238E27FC236}">
                <a16:creationId xmlns:a16="http://schemas.microsoft.com/office/drawing/2014/main" id="{1B9B74E3-F64F-1F74-B121-FA5A2D2A93F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74CD41F4-8C98-58DA-1B30-6848B6A5FB30}"/>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958749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B455F-2D2C-2258-D973-81F4340070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CAA4FF-312F-A655-E389-24532CA515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7B6639-8689-1BF2-C9DA-7C8E2545CB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53E4-ACDB-AC40-F36C-A44B6A24FC5B}"/>
              </a:ext>
            </a:extLst>
          </p:cNvPr>
          <p:cNvSpPr>
            <a:spLocks noGrp="1"/>
          </p:cNvSpPr>
          <p:nvPr>
            <p:ph type="dt" sz="half" idx="10"/>
          </p:nvPr>
        </p:nvSpPr>
        <p:spPr/>
        <p:txBody>
          <a:bodyPr/>
          <a:lstStyle/>
          <a:p>
            <a:fld id="{4199CE75-C96E-4005-A7DF-454CD1DEC21B}" type="datetime1">
              <a:rPr lang="en-IN" smtClean="0"/>
              <a:t>24-02-2026</a:t>
            </a:fld>
            <a:endParaRPr lang="en-IN" dirty="0"/>
          </a:p>
        </p:txBody>
      </p:sp>
      <p:sp>
        <p:nvSpPr>
          <p:cNvPr id="6" name="Footer Placeholder 5">
            <a:extLst>
              <a:ext uri="{FF2B5EF4-FFF2-40B4-BE49-F238E27FC236}">
                <a16:creationId xmlns:a16="http://schemas.microsoft.com/office/drawing/2014/main" id="{E97CB58F-C40C-92FE-7A16-D3CDF92FCBA2}"/>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9224E84-62C1-8898-712D-2FFE7F9DDAF5}"/>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79993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ED48-C768-4C92-CFD9-46B6F7F61F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80BAB8-B529-F739-1D4A-99829FAD0C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BCFB19DB-EEE8-72BE-5689-C6CC0E1D8F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C5C87D-6C4B-99F4-60A3-F794B9D9BAF1}"/>
              </a:ext>
            </a:extLst>
          </p:cNvPr>
          <p:cNvSpPr>
            <a:spLocks noGrp="1"/>
          </p:cNvSpPr>
          <p:nvPr>
            <p:ph type="dt" sz="half" idx="10"/>
          </p:nvPr>
        </p:nvSpPr>
        <p:spPr/>
        <p:txBody>
          <a:bodyPr/>
          <a:lstStyle/>
          <a:p>
            <a:fld id="{A5116B11-C10B-4D81-9E63-AA25A989EA7D}" type="datetime1">
              <a:rPr lang="en-IN" smtClean="0"/>
              <a:t>24-02-2026</a:t>
            </a:fld>
            <a:endParaRPr lang="en-IN" dirty="0"/>
          </a:p>
        </p:txBody>
      </p:sp>
      <p:sp>
        <p:nvSpPr>
          <p:cNvPr id="6" name="Footer Placeholder 5">
            <a:extLst>
              <a:ext uri="{FF2B5EF4-FFF2-40B4-BE49-F238E27FC236}">
                <a16:creationId xmlns:a16="http://schemas.microsoft.com/office/drawing/2014/main" id="{322D3798-52E8-1EBF-C4F7-DF99C9A9282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5C13D85-9822-256E-4B0B-D2080E3E6065}"/>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982122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EF3F-CB6F-1CD9-947F-7A7B50BD9C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797EAD-949C-EC38-F73E-7FD09C6C8D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F03B49-9A25-8EC0-E045-93DCE73EDA78}"/>
              </a:ext>
            </a:extLst>
          </p:cNvPr>
          <p:cNvSpPr>
            <a:spLocks noGrp="1"/>
          </p:cNvSpPr>
          <p:nvPr>
            <p:ph type="dt" sz="half" idx="10"/>
          </p:nvPr>
        </p:nvSpPr>
        <p:spPr/>
        <p:txBody>
          <a:bodyPr/>
          <a:lstStyle/>
          <a:p>
            <a:fld id="{68CB2A05-DFD5-4FBC-BF42-DAE7FAE05F1D}" type="datetime1">
              <a:rPr lang="en-IN" smtClean="0"/>
              <a:t>24-02-2026</a:t>
            </a:fld>
            <a:endParaRPr lang="en-IN" dirty="0"/>
          </a:p>
        </p:txBody>
      </p:sp>
      <p:sp>
        <p:nvSpPr>
          <p:cNvPr id="5" name="Footer Placeholder 4">
            <a:extLst>
              <a:ext uri="{FF2B5EF4-FFF2-40B4-BE49-F238E27FC236}">
                <a16:creationId xmlns:a16="http://schemas.microsoft.com/office/drawing/2014/main" id="{4404B5B9-EF2B-DD37-1143-5243CBC2D6C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5F939C0-506F-76CA-0AF0-1B6D33DE191D}"/>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1065186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2FA8ED-A59B-678A-4F67-67E19015B6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EBA3B3-647B-3D8B-8609-84C700A2F5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BA1341-F9CE-80A0-A1D3-2CCAFDA71ABC}"/>
              </a:ext>
            </a:extLst>
          </p:cNvPr>
          <p:cNvSpPr>
            <a:spLocks noGrp="1"/>
          </p:cNvSpPr>
          <p:nvPr>
            <p:ph type="dt" sz="half" idx="10"/>
          </p:nvPr>
        </p:nvSpPr>
        <p:spPr/>
        <p:txBody>
          <a:bodyPr/>
          <a:lstStyle/>
          <a:p>
            <a:fld id="{D27D94C8-5A76-4F4C-92DD-5D1AF03D0C8E}" type="datetime1">
              <a:rPr lang="en-IN" smtClean="0"/>
              <a:t>24-02-2026</a:t>
            </a:fld>
            <a:endParaRPr lang="en-IN" dirty="0"/>
          </a:p>
        </p:txBody>
      </p:sp>
      <p:sp>
        <p:nvSpPr>
          <p:cNvPr id="5" name="Footer Placeholder 4">
            <a:extLst>
              <a:ext uri="{FF2B5EF4-FFF2-40B4-BE49-F238E27FC236}">
                <a16:creationId xmlns:a16="http://schemas.microsoft.com/office/drawing/2014/main" id="{E2E46E71-9F35-830B-F82C-34B9316ADAE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5C7FAAE-6F73-61C5-2C2C-255A2BAF667F}"/>
              </a:ext>
            </a:extLst>
          </p:cNvPr>
          <p:cNvSpPr>
            <a:spLocks noGrp="1"/>
          </p:cNvSpPr>
          <p:nvPr>
            <p:ph type="sldNum" sz="quarter" idx="12"/>
          </p:nvPr>
        </p:nvSpPr>
        <p:spPr/>
        <p:txBody>
          <a:bodyPr/>
          <a:lstStyle/>
          <a:p>
            <a:fld id="{D0063D55-1E1F-42B3-9539-F98231BC29CD}" type="slidenum">
              <a:rPr lang="en-IN" smtClean="0"/>
              <a:t>‹#›</a:t>
            </a:fld>
            <a:endParaRPr lang="en-IN" dirty="0"/>
          </a:p>
        </p:txBody>
      </p:sp>
    </p:spTree>
    <p:extLst>
      <p:ext uri="{BB962C8B-B14F-4D97-AF65-F5344CB8AC3E}">
        <p14:creationId xmlns:p14="http://schemas.microsoft.com/office/powerpoint/2010/main" val="3663610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71E2A6-D41B-4E90-7B6B-7F58DC6E8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3CC69D-4CAC-8944-B28B-DF6303862E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DBFA49-1D24-7B40-4AB9-F2D66ED8B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A6C373-A5A1-4EA1-81B7-D9BB231EFC31}" type="datetime1">
              <a:rPr lang="en-IN" smtClean="0"/>
              <a:t>24-02-2026</a:t>
            </a:fld>
            <a:endParaRPr lang="en-IN" dirty="0"/>
          </a:p>
        </p:txBody>
      </p:sp>
      <p:sp>
        <p:nvSpPr>
          <p:cNvPr id="5" name="Footer Placeholder 4">
            <a:extLst>
              <a:ext uri="{FF2B5EF4-FFF2-40B4-BE49-F238E27FC236}">
                <a16:creationId xmlns:a16="http://schemas.microsoft.com/office/drawing/2014/main" id="{AFFD07D8-B64E-8712-9BFA-BE38FE9311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D1F173F2-C28F-C14E-5BA4-8475696B99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063D55-1E1F-42B3-9539-F98231BC29CD}" type="slidenum">
              <a:rPr lang="en-IN" smtClean="0"/>
              <a:t>‹#›</a:t>
            </a:fld>
            <a:endParaRPr lang="en-IN" dirty="0"/>
          </a:p>
        </p:txBody>
      </p:sp>
    </p:spTree>
    <p:extLst>
      <p:ext uri="{BB962C8B-B14F-4D97-AF65-F5344CB8AC3E}">
        <p14:creationId xmlns:p14="http://schemas.microsoft.com/office/powerpoint/2010/main" val="79557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mc.ncbi.nlm.nih.gov/articles/PMC12819984/" TargetMode="External"/><Relationship Id="rId2" Type="http://schemas.openxmlformats.org/officeDocument/2006/relationships/hyperlink" Target="https://www.nature.com/articles/s41598-025-24919-3"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proceedings.mlr.press/v27/baldi12a.html" TargetMode="External"/><Relationship Id="rId4" Type="http://schemas.openxmlformats.org/officeDocument/2006/relationships/hyperlink" Target="https://onlinelibrary.wiley.com/doi/10.1002/cpe.70634"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deloitte.com/global/en/Industries/life-sciences-health-care/perspectives/gx-mental-health-2022.html" TargetMode="External"/><Relationship Id="rId2" Type="http://schemas.openxmlformats.org/officeDocument/2006/relationships/hyperlink" Target="https://www.nature.com/articles/s41746-020-00376-2"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077D0B-9242-14C6-D01B-F3D250752F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1260" y="113238"/>
            <a:ext cx="2432705" cy="1173629"/>
          </a:xfrm>
          <a:prstGeom prst="rect">
            <a:avLst/>
          </a:prstGeom>
        </p:spPr>
      </p:pic>
      <p:sp>
        <p:nvSpPr>
          <p:cNvPr id="6" name="TextBox 5">
            <a:extLst>
              <a:ext uri="{FF2B5EF4-FFF2-40B4-BE49-F238E27FC236}">
                <a16:creationId xmlns:a16="http://schemas.microsoft.com/office/drawing/2014/main" id="{2D2DEC7F-16CA-A0EA-D35F-C7E77AC08E8B}"/>
              </a:ext>
            </a:extLst>
          </p:cNvPr>
          <p:cNvSpPr txBox="1"/>
          <p:nvPr/>
        </p:nvSpPr>
        <p:spPr>
          <a:xfrm>
            <a:off x="665019" y="582823"/>
            <a:ext cx="10120745" cy="2308324"/>
          </a:xfrm>
          <a:prstGeom prst="rect">
            <a:avLst/>
          </a:prstGeom>
          <a:noFill/>
        </p:spPr>
        <p:txBody>
          <a:bodyPr wrap="square" rtlCol="0">
            <a:spAutoFit/>
          </a:bodyPr>
          <a:lstStyle/>
          <a:p>
            <a:endParaRPr lang="en-IN" sz="3600" b="1" dirty="0">
              <a:solidFill>
                <a:srgbClr val="7030A0"/>
              </a:solidFill>
              <a:latin typeface="Times New Roman" panose="02020603050405020304" pitchFamily="18" charset="0"/>
              <a:cs typeface="Times New Roman" panose="02020603050405020304" pitchFamily="18" charset="0"/>
            </a:endParaRPr>
          </a:p>
          <a:p>
            <a:endParaRPr lang="en-IN" sz="3600" b="1" dirty="0">
              <a:solidFill>
                <a:srgbClr val="7030A0"/>
              </a:solidFill>
              <a:latin typeface="Times New Roman" panose="02020603050405020304" pitchFamily="18" charset="0"/>
              <a:cs typeface="Times New Roman" panose="02020603050405020304" pitchFamily="18" charset="0"/>
            </a:endParaRPr>
          </a:p>
          <a:p>
            <a:r>
              <a:rPr lang="en-US" sz="3600" b="1" dirty="0">
                <a:solidFill>
                  <a:srgbClr val="7030A0"/>
                </a:solidFill>
                <a:latin typeface="Times New Roman" panose="02020603050405020304" pitchFamily="18" charset="0"/>
                <a:cs typeface="Times New Roman" panose="02020603050405020304" pitchFamily="18" charset="0"/>
              </a:rPr>
              <a:t>Predicting Mental Health Vulnerabilities from Behavioral &amp; Demographic Patterns </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81F4AB5-9689-D1E0-D8CD-F2E51C6DC5BE}"/>
              </a:ext>
            </a:extLst>
          </p:cNvPr>
          <p:cNvSpPr txBox="1"/>
          <p:nvPr/>
        </p:nvSpPr>
        <p:spPr>
          <a:xfrm>
            <a:off x="745435" y="3866322"/>
            <a:ext cx="4892878" cy="2662267"/>
          </a:xfrm>
          <a:prstGeom prst="rect">
            <a:avLst/>
          </a:prstGeom>
          <a:noFill/>
        </p:spPr>
        <p:txBody>
          <a:bodyPr wrap="none" rtlCol="0">
            <a:spAutoFit/>
          </a:bodyPr>
          <a:lstStyle/>
          <a:p>
            <a:endParaRPr lang="en-IN" sz="2000" dirty="0"/>
          </a:p>
          <a:p>
            <a:r>
              <a:rPr lang="en-IN" sz="2000" b="1" dirty="0"/>
              <a:t>Presented By:-</a:t>
            </a: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Mohitha Bandi (22WUO0105037)</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Pailla Bhavya (22WUO0105020)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 Harshavardhan Reddy(2WUO0105023)</a:t>
            </a:r>
          </a:p>
          <a:p>
            <a:pPr marL="342900" lvl="0" indent="-342900">
              <a:lnSpc>
                <a:spcPct val="107000"/>
              </a:lnSpc>
              <a:buFont typeface="+mj-lt"/>
              <a:buAutoNum type="arabicPeriod"/>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Y. Siddhartha Reddy (22WU0105028)</a:t>
            </a:r>
          </a:p>
          <a:p>
            <a:pPr marL="342900" lvl="0" indent="-342900">
              <a:lnSpc>
                <a:spcPct val="107000"/>
              </a:lnSpc>
              <a:buFont typeface="+mj-lt"/>
              <a:buAutoNum type="arabicPeriod"/>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Pragnan </a:t>
            </a:r>
            <a:r>
              <a:rPr lang="en-IN" sz="2000" kern="100" dirty="0" err="1">
                <a:latin typeface="Times New Roman" panose="02020603050405020304" pitchFamily="18" charset="0"/>
                <a:ea typeface="Calibri" panose="020F0502020204030204" pitchFamily="34" charset="0"/>
                <a:cs typeface="Times New Roman" panose="02020603050405020304" pitchFamily="18" charset="0"/>
              </a:rPr>
              <a:t>Seemakurthi</a:t>
            </a:r>
            <a:r>
              <a:rPr lang="en-IN" sz="2000" kern="100" dirty="0">
                <a:latin typeface="Times New Roman" panose="02020603050405020304" pitchFamily="18" charset="0"/>
                <a:ea typeface="Calibri" panose="020F0502020204030204" pitchFamily="34" charset="0"/>
                <a:cs typeface="Times New Roman" panose="02020603050405020304" pitchFamily="18" charset="0"/>
              </a:rPr>
              <a:t>(22WU0105021)</a:t>
            </a:r>
            <a:endParaRPr lang="en-IN" sz="2000" dirty="0"/>
          </a:p>
          <a:p>
            <a:endParaRPr lang="en-IN" sz="2000" dirty="0"/>
          </a:p>
        </p:txBody>
      </p:sp>
      <p:sp>
        <p:nvSpPr>
          <p:cNvPr id="8" name="TextBox 7">
            <a:extLst>
              <a:ext uri="{FF2B5EF4-FFF2-40B4-BE49-F238E27FC236}">
                <a16:creationId xmlns:a16="http://schemas.microsoft.com/office/drawing/2014/main" id="{AC6E751C-3BDE-45E6-B7C9-1E4D90BCBF3E}"/>
              </a:ext>
            </a:extLst>
          </p:cNvPr>
          <p:cNvSpPr txBox="1"/>
          <p:nvPr/>
        </p:nvSpPr>
        <p:spPr>
          <a:xfrm>
            <a:off x="8286019" y="4234070"/>
            <a:ext cx="3160546" cy="1600438"/>
          </a:xfrm>
          <a:prstGeom prst="rect">
            <a:avLst/>
          </a:prstGeom>
          <a:noFill/>
        </p:spPr>
        <p:txBody>
          <a:bodyPr wrap="square" rtlCol="0">
            <a:spAutoFit/>
          </a:bodyPr>
          <a:lstStyle/>
          <a:p>
            <a:r>
              <a:rPr lang="en-IN" sz="2000" b="1" dirty="0"/>
              <a:t>Supervised by:- </a:t>
            </a:r>
          </a:p>
          <a:p>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dirty="0"/>
              <a:t>Dr. Resham Raj </a:t>
            </a:r>
            <a:r>
              <a:rPr lang="en-IN" dirty="0" err="1"/>
              <a:t>Shivwanshi</a:t>
            </a:r>
            <a:endParaRPr lang="en-IN" dirty="0"/>
          </a:p>
          <a:p>
            <a:r>
              <a:rPr lang="en-IN" sz="2000" dirty="0"/>
              <a:t>Assistant Professor, </a:t>
            </a:r>
          </a:p>
          <a:p>
            <a:r>
              <a:rPr lang="en-IN" sz="2000" dirty="0"/>
              <a:t>Woxsen University. </a:t>
            </a:r>
          </a:p>
        </p:txBody>
      </p:sp>
      <p:sp>
        <p:nvSpPr>
          <p:cNvPr id="2" name="Slide Number Placeholder 1">
            <a:extLst>
              <a:ext uri="{FF2B5EF4-FFF2-40B4-BE49-F238E27FC236}">
                <a16:creationId xmlns:a16="http://schemas.microsoft.com/office/drawing/2014/main" id="{669DD646-9571-D41E-B95B-C1CDA1056502}"/>
              </a:ext>
            </a:extLst>
          </p:cNvPr>
          <p:cNvSpPr>
            <a:spLocks noGrp="1"/>
          </p:cNvSpPr>
          <p:nvPr>
            <p:ph type="sldNum" sz="quarter" idx="12"/>
          </p:nvPr>
        </p:nvSpPr>
        <p:spPr/>
        <p:txBody>
          <a:bodyPr/>
          <a:lstStyle/>
          <a:p>
            <a:fld id="{D0063D55-1E1F-42B3-9539-F98231BC29CD}" type="slidenum">
              <a:rPr lang="en-IN" smtClean="0"/>
              <a:t>1</a:t>
            </a:fld>
            <a:endParaRPr lang="en-IN" dirty="0"/>
          </a:p>
        </p:txBody>
      </p:sp>
    </p:spTree>
    <p:extLst>
      <p:ext uri="{BB962C8B-B14F-4D97-AF65-F5344CB8AC3E}">
        <p14:creationId xmlns:p14="http://schemas.microsoft.com/office/powerpoint/2010/main" val="2982489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9C949-ACFF-BF5D-101D-940521C59E9F}"/>
              </a:ext>
            </a:extLst>
          </p:cNvPr>
          <p:cNvSpPr>
            <a:spLocks noGrp="1"/>
          </p:cNvSpPr>
          <p:nvPr>
            <p:ph type="title"/>
          </p:nvPr>
        </p:nvSpPr>
        <p:spPr>
          <a:xfrm>
            <a:off x="331304" y="126586"/>
            <a:ext cx="10515600" cy="1205258"/>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2E73CE81-5A6B-B1E6-3126-9F98D2DC0FA4}"/>
              </a:ext>
            </a:extLst>
          </p:cNvPr>
          <p:cNvSpPr txBox="1"/>
          <p:nvPr/>
        </p:nvSpPr>
        <p:spPr>
          <a:xfrm>
            <a:off x="331304" y="1664353"/>
            <a:ext cx="11753324" cy="5109860"/>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Mental health issues are rapidly increasing due to stress, isolation, and lifestyle imbalance.</a:t>
            </a:r>
          </a:p>
          <a:p>
            <a:pPr marL="457200" indent="-4572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Many individuals do not seek timely help due to stigma and lack of awareness.</a:t>
            </a:r>
          </a:p>
          <a:p>
            <a:pPr marL="457200" indent="-4572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ML &amp; DL enable early detection of mental health vulnerability through non-invasive data analysis.</a:t>
            </a:r>
          </a:p>
          <a:p>
            <a:pPr marL="457200" indent="-4572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project predicts mental health risk using behavioral indicators such as:</a:t>
            </a:r>
          </a:p>
          <a:p>
            <a:pPr marL="1371600" lvl="2" indent="-4572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Mood swings</a:t>
            </a:r>
          </a:p>
          <a:p>
            <a:pPr marL="1371600" lvl="2" indent="-4572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Work interest changes</a:t>
            </a:r>
          </a:p>
          <a:p>
            <a:pPr marL="1371600" lvl="2" indent="-4572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Social weaknesses</a:t>
            </a:r>
          </a:p>
          <a:p>
            <a:pPr marL="1371600" lvl="2" indent="-4572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Coping struggles</a:t>
            </a:r>
          </a:p>
          <a:p>
            <a:pPr marL="1371600" lvl="2" indent="-4572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Stress patterns</a:t>
            </a:r>
          </a:p>
          <a:p>
            <a:pPr marL="457200" indent="-4572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aims to support early intervention and promote proactive mental well-being.</a:t>
            </a:r>
          </a:p>
        </p:txBody>
      </p:sp>
      <p:pic>
        <p:nvPicPr>
          <p:cNvPr id="4" name="Picture 3">
            <a:extLst>
              <a:ext uri="{FF2B5EF4-FFF2-40B4-BE49-F238E27FC236}">
                <a16:creationId xmlns:a16="http://schemas.microsoft.com/office/drawing/2014/main" id="{6FAA3478-335E-6A38-6417-99EFD9BD064B}"/>
              </a:ext>
            </a:extLst>
          </p:cNvPr>
          <p:cNvPicPr>
            <a:picLocks noChangeAspect="1"/>
          </p:cNvPicPr>
          <p:nvPr/>
        </p:nvPicPr>
        <p:blipFill>
          <a:blip r:embed="rId2"/>
          <a:stretch>
            <a:fillRect/>
          </a:stretch>
        </p:blipFill>
        <p:spPr>
          <a:xfrm>
            <a:off x="9734309" y="126586"/>
            <a:ext cx="2126387" cy="1023223"/>
          </a:xfrm>
          <a:prstGeom prst="rect">
            <a:avLst/>
          </a:prstGeom>
        </p:spPr>
      </p:pic>
      <p:sp>
        <p:nvSpPr>
          <p:cNvPr id="5" name="Slide Number Placeholder 4">
            <a:extLst>
              <a:ext uri="{FF2B5EF4-FFF2-40B4-BE49-F238E27FC236}">
                <a16:creationId xmlns:a16="http://schemas.microsoft.com/office/drawing/2014/main" id="{EBBB785C-C34F-3264-2AA8-F171703D3463}"/>
              </a:ext>
            </a:extLst>
          </p:cNvPr>
          <p:cNvSpPr>
            <a:spLocks noGrp="1"/>
          </p:cNvSpPr>
          <p:nvPr>
            <p:ph type="sldNum" sz="quarter" idx="12"/>
          </p:nvPr>
        </p:nvSpPr>
        <p:spPr/>
        <p:txBody>
          <a:bodyPr/>
          <a:lstStyle/>
          <a:p>
            <a:fld id="{D0063D55-1E1F-42B3-9539-F98231BC29CD}" type="slidenum">
              <a:rPr lang="en-IN" smtClean="0"/>
              <a:t>2</a:t>
            </a:fld>
            <a:endParaRPr lang="en-IN" dirty="0"/>
          </a:p>
        </p:txBody>
      </p:sp>
    </p:spTree>
    <p:extLst>
      <p:ext uri="{BB962C8B-B14F-4D97-AF65-F5344CB8AC3E}">
        <p14:creationId xmlns:p14="http://schemas.microsoft.com/office/powerpoint/2010/main" val="244169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1BC64-B318-D25F-A671-069C941CD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08598-CFD1-AE3C-F639-F70592D3A12C}"/>
              </a:ext>
            </a:extLst>
          </p:cNvPr>
          <p:cNvSpPr>
            <a:spLocks noGrp="1"/>
          </p:cNvSpPr>
          <p:nvPr>
            <p:ph type="title"/>
          </p:nvPr>
        </p:nvSpPr>
        <p:spPr>
          <a:xfrm>
            <a:off x="331304" y="126586"/>
            <a:ext cx="10515600" cy="1205258"/>
          </a:xfrm>
        </p:spPr>
        <p:txBody>
          <a:bodyPr/>
          <a:lstStyle/>
          <a:p>
            <a:r>
              <a:rPr lang="en-IN" dirty="0">
                <a:latin typeface="Times New Roman" panose="02020603050405020304" pitchFamily="18" charset="0"/>
                <a:cs typeface="Times New Roman" panose="02020603050405020304" pitchFamily="18" charset="0"/>
              </a:rPr>
              <a:t>Research Problem:</a:t>
            </a:r>
          </a:p>
        </p:txBody>
      </p:sp>
      <p:sp>
        <p:nvSpPr>
          <p:cNvPr id="3" name="TextBox 2">
            <a:extLst>
              <a:ext uri="{FF2B5EF4-FFF2-40B4-BE49-F238E27FC236}">
                <a16:creationId xmlns:a16="http://schemas.microsoft.com/office/drawing/2014/main" id="{DDFE4B21-20F4-94DA-F054-E787DE825A89}"/>
              </a:ext>
            </a:extLst>
          </p:cNvPr>
          <p:cNvSpPr txBox="1"/>
          <p:nvPr/>
        </p:nvSpPr>
        <p:spPr>
          <a:xfrm>
            <a:off x="197427" y="2182091"/>
            <a:ext cx="11887201" cy="3586366"/>
          </a:xfrm>
          <a:prstGeom prst="rect">
            <a:avLst/>
          </a:prstGeom>
          <a:noFill/>
        </p:spPr>
        <p:txBody>
          <a:bodyPr wrap="square" rtlCol="0">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Despite growing awareness, mental health disorders often go undetected until they reach a critical stage. Current diagnostic methods rely heavily on self-reporting, clinical interviews, or observable symptoms—which are reactive, subjective, and inaccessible to many. There is no scalable, preventive system that uses </a:t>
            </a:r>
            <a:r>
              <a:rPr lang="en-US" sz="2200" b="1" dirty="0">
                <a:latin typeface="Times New Roman" panose="02020603050405020304" pitchFamily="18" charset="0"/>
                <a:cs typeface="Times New Roman" panose="02020603050405020304" pitchFamily="18" charset="0"/>
              </a:rPr>
              <a:t>everyday behavioral and demographic data</a:t>
            </a:r>
            <a:r>
              <a:rPr lang="en-US" sz="2200" dirty="0">
                <a:latin typeface="Times New Roman" panose="02020603050405020304" pitchFamily="18" charset="0"/>
                <a:cs typeface="Times New Roman" panose="02020603050405020304" pitchFamily="18" charset="0"/>
              </a:rPr>
              <a:t> to predict vulnerability—not just diagnosis—in a general population.</a:t>
            </a:r>
          </a:p>
          <a:p>
            <a:pPr algn="just">
              <a:lnSpc>
                <a:spcPct val="150000"/>
              </a:lnSpc>
            </a:pPr>
            <a:endParaRPr lang="en-US" sz="2200" dirty="0">
              <a:latin typeface="Times New Roman" panose="02020603050405020304" pitchFamily="18" charset="0"/>
              <a:cs typeface="Times New Roman" panose="02020603050405020304" pitchFamily="18" charset="0"/>
            </a:endParaRPr>
          </a:p>
          <a:p>
            <a:pPr algn="just">
              <a:lnSpc>
                <a:spcPct val="150000"/>
              </a:lnSpc>
            </a:pP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7CB44A7-AA17-66F8-A4A2-EAEBE013A279}"/>
              </a:ext>
            </a:extLst>
          </p:cNvPr>
          <p:cNvPicPr>
            <a:picLocks noChangeAspect="1"/>
          </p:cNvPicPr>
          <p:nvPr/>
        </p:nvPicPr>
        <p:blipFill>
          <a:blip r:embed="rId2"/>
          <a:stretch>
            <a:fillRect/>
          </a:stretch>
        </p:blipFill>
        <p:spPr>
          <a:xfrm>
            <a:off x="9734309" y="126586"/>
            <a:ext cx="2126387" cy="1023223"/>
          </a:xfrm>
          <a:prstGeom prst="rect">
            <a:avLst/>
          </a:prstGeom>
        </p:spPr>
      </p:pic>
      <p:sp>
        <p:nvSpPr>
          <p:cNvPr id="5" name="Slide Number Placeholder 4">
            <a:extLst>
              <a:ext uri="{FF2B5EF4-FFF2-40B4-BE49-F238E27FC236}">
                <a16:creationId xmlns:a16="http://schemas.microsoft.com/office/drawing/2014/main" id="{E2CFB7B5-142D-9F50-BEA8-ECF965D63622}"/>
              </a:ext>
            </a:extLst>
          </p:cNvPr>
          <p:cNvSpPr>
            <a:spLocks noGrp="1"/>
          </p:cNvSpPr>
          <p:nvPr>
            <p:ph type="sldNum" sz="quarter" idx="12"/>
          </p:nvPr>
        </p:nvSpPr>
        <p:spPr/>
        <p:txBody>
          <a:bodyPr/>
          <a:lstStyle/>
          <a:p>
            <a:fld id="{D0063D55-1E1F-42B3-9539-F98231BC29CD}" type="slidenum">
              <a:rPr lang="en-IN" smtClean="0"/>
              <a:t>3</a:t>
            </a:fld>
            <a:endParaRPr lang="en-IN" dirty="0"/>
          </a:p>
        </p:txBody>
      </p:sp>
    </p:spTree>
    <p:extLst>
      <p:ext uri="{BB962C8B-B14F-4D97-AF65-F5344CB8AC3E}">
        <p14:creationId xmlns:p14="http://schemas.microsoft.com/office/powerpoint/2010/main" val="2329673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BF63F-7321-9E8A-1F5A-0613009F1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888DE-C610-FAF0-4FFE-B4273F1A4AC7}"/>
              </a:ext>
            </a:extLst>
          </p:cNvPr>
          <p:cNvSpPr>
            <a:spLocks noGrp="1"/>
          </p:cNvSpPr>
          <p:nvPr>
            <p:ph type="title"/>
          </p:nvPr>
        </p:nvSpPr>
        <p:spPr>
          <a:xfrm>
            <a:off x="331304" y="1149808"/>
            <a:ext cx="10515600" cy="182035"/>
          </a:xfrm>
        </p:spPr>
        <p:txBody>
          <a:bodyPr>
            <a:normAutofit fontScale="90000"/>
          </a:bodyPr>
          <a:lstStyle/>
          <a:p>
            <a:r>
              <a:rPr lang="en-US" dirty="0">
                <a:latin typeface="Times New Roman" panose="02020603050405020304" pitchFamily="18" charset="0"/>
                <a:cs typeface="Times New Roman" panose="02020603050405020304" pitchFamily="18" charset="0"/>
              </a:rPr>
              <a:t>Motivation &amp; Real-World Importance</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6E1118C-A653-5A58-EEBE-0FE71C419B1D}"/>
              </a:ext>
            </a:extLst>
          </p:cNvPr>
          <p:cNvSpPr txBox="1"/>
          <p:nvPr/>
        </p:nvSpPr>
        <p:spPr>
          <a:xfrm>
            <a:off x="331304" y="1664353"/>
            <a:ext cx="11753324" cy="5617692"/>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Motivation:</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Mental health issues are increasing globally, especially after COVID-19</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Early identification can:</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Prevent severe conditions</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 timely support</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 social stigma</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Using everyday behavioral and demographic data makes prediction scalable</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Real-World Importance:</a:t>
            </a:r>
          </a:p>
          <a:p>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Helps organizations design employee wellness programs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Assists healthcare providers in prioritizing high-risk individuals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Supports public health planning and awareness campaigns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Allows individuals to assess risk anonymously</a:t>
            </a:r>
          </a:p>
          <a:p>
            <a:pPr algn="just">
              <a:lnSpc>
                <a:spcPct val="150000"/>
              </a:lnSpc>
            </a:pP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0EA5547-5F68-AB3F-4A7C-0F937906B415}"/>
              </a:ext>
            </a:extLst>
          </p:cNvPr>
          <p:cNvPicPr>
            <a:picLocks noChangeAspect="1"/>
          </p:cNvPicPr>
          <p:nvPr/>
        </p:nvPicPr>
        <p:blipFill>
          <a:blip r:embed="rId2"/>
          <a:stretch>
            <a:fillRect/>
          </a:stretch>
        </p:blipFill>
        <p:spPr>
          <a:xfrm>
            <a:off x="9734309" y="126586"/>
            <a:ext cx="2126387" cy="1023223"/>
          </a:xfrm>
          <a:prstGeom prst="rect">
            <a:avLst/>
          </a:prstGeom>
        </p:spPr>
      </p:pic>
      <p:sp>
        <p:nvSpPr>
          <p:cNvPr id="5" name="Slide Number Placeholder 4">
            <a:extLst>
              <a:ext uri="{FF2B5EF4-FFF2-40B4-BE49-F238E27FC236}">
                <a16:creationId xmlns:a16="http://schemas.microsoft.com/office/drawing/2014/main" id="{2F469D8B-0BFC-F724-2DF0-EC38E60E7D9A}"/>
              </a:ext>
            </a:extLst>
          </p:cNvPr>
          <p:cNvSpPr>
            <a:spLocks noGrp="1"/>
          </p:cNvSpPr>
          <p:nvPr>
            <p:ph type="sldNum" sz="quarter" idx="12"/>
          </p:nvPr>
        </p:nvSpPr>
        <p:spPr/>
        <p:txBody>
          <a:bodyPr/>
          <a:lstStyle/>
          <a:p>
            <a:fld id="{D0063D55-1E1F-42B3-9539-F98231BC29CD}" type="slidenum">
              <a:rPr lang="en-IN" smtClean="0"/>
              <a:t>4</a:t>
            </a:fld>
            <a:endParaRPr lang="en-IN" dirty="0"/>
          </a:p>
        </p:txBody>
      </p:sp>
    </p:spTree>
    <p:extLst>
      <p:ext uri="{BB962C8B-B14F-4D97-AF65-F5344CB8AC3E}">
        <p14:creationId xmlns:p14="http://schemas.microsoft.com/office/powerpoint/2010/main" val="169793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86091-3C41-6BC0-8370-7CDEED4C4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CE4B3-4214-028E-70DD-0F100FDD8D14}"/>
              </a:ext>
            </a:extLst>
          </p:cNvPr>
          <p:cNvSpPr>
            <a:spLocks noGrp="1"/>
          </p:cNvSpPr>
          <p:nvPr>
            <p:ph type="title"/>
          </p:nvPr>
        </p:nvSpPr>
        <p:spPr>
          <a:xfrm>
            <a:off x="331304" y="1149808"/>
            <a:ext cx="10515600" cy="797524"/>
          </a:xfrm>
        </p:spPr>
        <p:txBody>
          <a:bodyPr>
            <a:noAutofit/>
          </a:bodyPr>
          <a:lstStyle/>
          <a:p>
            <a:r>
              <a:rPr lang="en-US" dirty="0">
                <a:latin typeface="Times New Roman" panose="02020603050405020304" pitchFamily="18" charset="0"/>
                <a:cs typeface="Times New Roman" panose="02020603050405020304" pitchFamily="18" charset="0"/>
              </a:rPr>
              <a:t>Literature Review: Summary of Related Work</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64B0A35-07FD-2B15-C44A-AABDD3BCC1EF}"/>
              </a:ext>
            </a:extLst>
          </p:cNvPr>
          <p:cNvSpPr txBox="1"/>
          <p:nvPr/>
        </p:nvSpPr>
        <p:spPr>
          <a:xfrm>
            <a:off x="169334" y="1947332"/>
            <a:ext cx="11915294" cy="742511"/>
          </a:xfrm>
          <a:prstGeom prst="rect">
            <a:avLst/>
          </a:prstGeom>
          <a:noFill/>
        </p:spPr>
        <p:txBody>
          <a:bodyPr wrap="square" rtlCol="0">
            <a:spAutoFit/>
          </a:bodyPr>
          <a:lstStyle/>
          <a:p>
            <a:pPr>
              <a:lnSpc>
                <a:spcPct val="150000"/>
              </a:lnSpc>
            </a:pPr>
            <a:endParaRPr lang="en-US"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D9CE420-C259-6EC1-48FC-2434CE821285}"/>
              </a:ext>
            </a:extLst>
          </p:cNvPr>
          <p:cNvPicPr>
            <a:picLocks noChangeAspect="1"/>
          </p:cNvPicPr>
          <p:nvPr/>
        </p:nvPicPr>
        <p:blipFill>
          <a:blip r:embed="rId2"/>
          <a:stretch>
            <a:fillRect/>
          </a:stretch>
        </p:blipFill>
        <p:spPr>
          <a:xfrm>
            <a:off x="10637520" y="126586"/>
            <a:ext cx="1223176" cy="588595"/>
          </a:xfrm>
          <a:prstGeom prst="rect">
            <a:avLst/>
          </a:prstGeom>
        </p:spPr>
      </p:pic>
      <p:graphicFrame>
        <p:nvGraphicFramePr>
          <p:cNvPr id="5" name="Table 4">
            <a:extLst>
              <a:ext uri="{FF2B5EF4-FFF2-40B4-BE49-F238E27FC236}">
                <a16:creationId xmlns:a16="http://schemas.microsoft.com/office/drawing/2014/main" id="{8E627E47-30D5-4448-5D4D-2EE3E6D7414F}"/>
              </a:ext>
            </a:extLst>
          </p:cNvPr>
          <p:cNvGraphicFramePr>
            <a:graphicFrameLocks noGrp="1"/>
          </p:cNvGraphicFramePr>
          <p:nvPr>
            <p:extLst>
              <p:ext uri="{D42A27DB-BD31-4B8C-83A1-F6EECF244321}">
                <p14:modId xmlns:p14="http://schemas.microsoft.com/office/powerpoint/2010/main" val="1012998766"/>
              </p:ext>
            </p:extLst>
          </p:nvPr>
        </p:nvGraphicFramePr>
        <p:xfrm>
          <a:off x="169334" y="1371601"/>
          <a:ext cx="11853332" cy="5359813"/>
        </p:xfrm>
        <a:graphic>
          <a:graphicData uri="http://schemas.openxmlformats.org/drawingml/2006/table">
            <a:tbl>
              <a:tblPr firstRow="1" bandRow="1">
                <a:tableStyleId>{5C22544A-7EE6-4342-B048-85BDC9FD1C3A}</a:tableStyleId>
              </a:tblPr>
              <a:tblGrid>
                <a:gridCol w="4069443">
                  <a:extLst>
                    <a:ext uri="{9D8B030D-6E8A-4147-A177-3AD203B41FA5}">
                      <a16:colId xmlns:a16="http://schemas.microsoft.com/office/drawing/2014/main" val="2081766977"/>
                    </a:ext>
                  </a:extLst>
                </a:gridCol>
                <a:gridCol w="3922603">
                  <a:extLst>
                    <a:ext uri="{9D8B030D-6E8A-4147-A177-3AD203B41FA5}">
                      <a16:colId xmlns:a16="http://schemas.microsoft.com/office/drawing/2014/main" val="3561310234"/>
                    </a:ext>
                  </a:extLst>
                </a:gridCol>
                <a:gridCol w="3861286">
                  <a:extLst>
                    <a:ext uri="{9D8B030D-6E8A-4147-A177-3AD203B41FA5}">
                      <a16:colId xmlns:a16="http://schemas.microsoft.com/office/drawing/2014/main" val="1876021061"/>
                    </a:ext>
                  </a:extLst>
                </a:gridCol>
              </a:tblGrid>
              <a:tr h="596579">
                <a:tc>
                  <a:txBody>
                    <a:bodyPr/>
                    <a:lstStyle/>
                    <a:p>
                      <a:r>
                        <a:rPr lang="en-US">
                          <a:latin typeface="Times New Roman" panose="02020603050405020304" pitchFamily="18" charset="0"/>
                          <a:cs typeface="Times New Roman" panose="02020603050405020304" pitchFamily="18" charset="0"/>
                        </a:rPr>
                        <a:t>Name of the Paper</a:t>
                      </a:r>
                      <a:endParaRPr lang="en-IN" dirty="0">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Algorithm Used</a:t>
                      </a:r>
                      <a:endParaRPr lang="en-IN" dirty="0">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Implementation in our project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5458519"/>
                  </a:ext>
                </a:extLst>
              </a:tr>
              <a:tr h="1263715">
                <a:tc>
                  <a:txBody>
                    <a:bodyPr/>
                    <a:lstStyle/>
                    <a:p>
                      <a:r>
                        <a:rPr lang="en-US" dirty="0"/>
                        <a:t>Machine Learning Techniques to Predict Mental Health Conditions</a:t>
                      </a:r>
                    </a:p>
                  </a:txBody>
                  <a:tcPr/>
                </a:tc>
                <a:tc>
                  <a:txBody>
                    <a:bodyPr/>
                    <a:lstStyle/>
                    <a:p>
                      <a:r>
                        <a:rPr lang="en-IN" dirty="0"/>
                        <a:t>Logistic Regression, Random Forest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Helps in building baseline models to predict student mental health conditions using demographic + behavioral features.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56571061"/>
                  </a:ext>
                </a:extLst>
              </a:tr>
              <a:tr h="1263715">
                <a:tc>
                  <a:txBody>
                    <a:bodyPr/>
                    <a:lstStyle/>
                    <a:p>
                      <a:r>
                        <a:rPr lang="en-US" dirty="0"/>
                        <a:t>Explainable Machine Learning in Depression Prediction using Lifestyle and Demographic Data</a:t>
                      </a:r>
                    </a:p>
                  </a:txBody>
                  <a:tcPr/>
                </a:tc>
                <a:tc>
                  <a:txBody>
                    <a:bodyPr/>
                    <a:lstStyle/>
                    <a:p>
                      <a:r>
                        <a:rPr lang="en-IN" dirty="0" err="1"/>
                        <a:t>XGBoost</a:t>
                      </a:r>
                      <a:r>
                        <a:rPr lang="en-IN" dirty="0"/>
                        <a:t> + SHAP Interpretability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Supports explainable prediction by identifying which lifestyle and stress features contribute most to mental health vulnerability.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4069731"/>
                  </a:ext>
                </a:extLst>
              </a:tr>
              <a:tr h="1263715">
                <a:tc>
                  <a:txBody>
                    <a:bodyPr/>
                    <a:lstStyle/>
                    <a:p>
                      <a:r>
                        <a:rPr lang="en-US" dirty="0"/>
                        <a:t>Deep Learning Models for Anxiety and Depression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Artificial Neural Networks (ANN), DNN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We implement DNN for improved accuracy in recognizing complex patterns of behavioral indicators that rule-based models miss.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1190596"/>
                  </a:ext>
                </a:extLst>
              </a:tr>
              <a:tr h="972089">
                <a:tc>
                  <a:txBody>
                    <a:bodyPr/>
                    <a:lstStyle/>
                    <a:p>
                      <a:r>
                        <a:rPr lang="en-US" dirty="0"/>
                        <a:t>Predicting Mental Health Risks using Hybrid ML Framework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Hybrid classification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Helps us compare multiple models and choose the best-performing ensemble approach for enhanced reliability.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5090264"/>
                  </a:ext>
                </a:extLst>
              </a:tr>
            </a:tbl>
          </a:graphicData>
        </a:graphic>
      </p:graphicFrame>
      <p:sp>
        <p:nvSpPr>
          <p:cNvPr id="6" name="Slide Number Placeholder 5">
            <a:extLst>
              <a:ext uri="{FF2B5EF4-FFF2-40B4-BE49-F238E27FC236}">
                <a16:creationId xmlns:a16="http://schemas.microsoft.com/office/drawing/2014/main" id="{821C38CF-50C1-362F-0399-EFC8C0EF297A}"/>
              </a:ext>
            </a:extLst>
          </p:cNvPr>
          <p:cNvSpPr>
            <a:spLocks noGrp="1"/>
          </p:cNvSpPr>
          <p:nvPr>
            <p:ph type="sldNum" sz="quarter" idx="12"/>
          </p:nvPr>
        </p:nvSpPr>
        <p:spPr>
          <a:xfrm>
            <a:off x="9265920" y="6366289"/>
            <a:ext cx="2743200" cy="365125"/>
          </a:xfrm>
        </p:spPr>
        <p:txBody>
          <a:bodyPr/>
          <a:lstStyle/>
          <a:p>
            <a:fld id="{D0063D55-1E1F-42B3-9539-F98231BC29CD}" type="slidenum">
              <a:rPr lang="en-IN" b="1" smtClean="0">
                <a:solidFill>
                  <a:srgbClr val="FF0000"/>
                </a:solidFill>
              </a:rPr>
              <a:t>5</a:t>
            </a:fld>
            <a:endParaRPr lang="en-IN" b="1" dirty="0">
              <a:solidFill>
                <a:srgbClr val="FF0000"/>
              </a:solidFill>
            </a:endParaRPr>
          </a:p>
        </p:txBody>
      </p:sp>
    </p:spTree>
    <p:extLst>
      <p:ext uri="{BB962C8B-B14F-4D97-AF65-F5344CB8AC3E}">
        <p14:creationId xmlns:p14="http://schemas.microsoft.com/office/powerpoint/2010/main" val="16356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6E9AD-382D-4A9F-3823-0BD9952DA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D4473-35DD-F027-4A0B-287E1E0C0D7C}"/>
              </a:ext>
            </a:extLst>
          </p:cNvPr>
          <p:cNvSpPr>
            <a:spLocks noGrp="1"/>
          </p:cNvSpPr>
          <p:nvPr>
            <p:ph type="title"/>
          </p:nvPr>
        </p:nvSpPr>
        <p:spPr>
          <a:xfrm>
            <a:off x="331304" y="1149808"/>
            <a:ext cx="10515600" cy="797524"/>
          </a:xfrm>
        </p:spPr>
        <p:txBody>
          <a:bodyPr>
            <a:noAutofit/>
          </a:bodyPr>
          <a:lstStyle/>
          <a:p>
            <a:r>
              <a:rPr lang="en-US" dirty="0">
                <a:latin typeface="Times New Roman" panose="02020603050405020304" pitchFamily="18" charset="0"/>
                <a:cs typeface="Times New Roman" panose="02020603050405020304" pitchFamily="18" charset="0"/>
              </a:rPr>
              <a:t>Summary of Related Work</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DC330EA-5FC4-4774-AEA2-9FAB8B551A81}"/>
              </a:ext>
            </a:extLst>
          </p:cNvPr>
          <p:cNvSpPr txBox="1"/>
          <p:nvPr/>
        </p:nvSpPr>
        <p:spPr>
          <a:xfrm>
            <a:off x="169334" y="1947332"/>
            <a:ext cx="11915294" cy="357405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Existing Approaches:</a:t>
            </a:r>
          </a:p>
          <a:p>
            <a:endParaRPr lang="en-IN"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Clinical tools:</a:t>
            </a:r>
            <a:r>
              <a:rPr lang="en-IN" sz="2400" dirty="0">
                <a:latin typeface="Times New Roman" panose="02020603050405020304" pitchFamily="18" charset="0"/>
                <a:cs typeface="Times New Roman" panose="02020603050405020304" pitchFamily="18" charset="0"/>
              </a:rPr>
              <a:t> PHQ-9, GAD-7 – require active participation.</a:t>
            </a: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Machine learning in mental health:</a:t>
            </a:r>
            <a:r>
              <a:rPr lang="en-IN" sz="2400" dirty="0">
                <a:latin typeface="Times New Roman" panose="02020603050405020304" pitchFamily="18" charset="0"/>
                <a:cs typeface="Times New Roman" panose="02020603050405020304" pitchFamily="18" charset="0"/>
              </a:rPr>
              <a:t> Mostly on social media text (sentiment, linguistic cues) for depression detection.</a:t>
            </a: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Traditional surveys:</a:t>
            </a:r>
            <a:r>
              <a:rPr lang="en-IN" sz="2400" dirty="0">
                <a:latin typeface="Times New Roman" panose="02020603050405020304" pitchFamily="18" charset="0"/>
                <a:cs typeface="Times New Roman" panose="02020603050405020304" pitchFamily="18" charset="0"/>
              </a:rPr>
              <a:t> Large-scale studies (e.g., WHO surveys) identify risk factors but don’t provide real-time individual predictions.</a:t>
            </a:r>
          </a:p>
          <a:p>
            <a:pPr marL="285750" indent="-285750">
              <a:lnSpc>
                <a:spcPct val="15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11D902-BB1C-F458-F710-9AD8DD8E38B2}"/>
              </a:ext>
            </a:extLst>
          </p:cNvPr>
          <p:cNvPicPr>
            <a:picLocks noChangeAspect="1"/>
          </p:cNvPicPr>
          <p:nvPr/>
        </p:nvPicPr>
        <p:blipFill>
          <a:blip r:embed="rId2"/>
          <a:stretch>
            <a:fillRect/>
          </a:stretch>
        </p:blipFill>
        <p:spPr>
          <a:xfrm>
            <a:off x="10637520" y="126586"/>
            <a:ext cx="1223176" cy="588595"/>
          </a:xfrm>
          <a:prstGeom prst="rect">
            <a:avLst/>
          </a:prstGeom>
        </p:spPr>
      </p:pic>
      <p:sp>
        <p:nvSpPr>
          <p:cNvPr id="7" name="Slide Number Placeholder 6">
            <a:extLst>
              <a:ext uri="{FF2B5EF4-FFF2-40B4-BE49-F238E27FC236}">
                <a16:creationId xmlns:a16="http://schemas.microsoft.com/office/drawing/2014/main" id="{583B22BA-BB3D-999B-F2FF-13FD48E94109}"/>
              </a:ext>
            </a:extLst>
          </p:cNvPr>
          <p:cNvSpPr>
            <a:spLocks noGrp="1"/>
          </p:cNvSpPr>
          <p:nvPr>
            <p:ph type="sldNum" sz="quarter" idx="12"/>
          </p:nvPr>
        </p:nvSpPr>
        <p:spPr/>
        <p:txBody>
          <a:bodyPr/>
          <a:lstStyle/>
          <a:p>
            <a:fld id="{D0063D55-1E1F-42B3-9539-F98231BC29CD}" type="slidenum">
              <a:rPr lang="en-IN" smtClean="0"/>
              <a:t>6</a:t>
            </a:fld>
            <a:endParaRPr lang="en-IN" dirty="0"/>
          </a:p>
        </p:txBody>
      </p:sp>
    </p:spTree>
    <p:extLst>
      <p:ext uri="{BB962C8B-B14F-4D97-AF65-F5344CB8AC3E}">
        <p14:creationId xmlns:p14="http://schemas.microsoft.com/office/powerpoint/2010/main" val="3044838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E6F2-825D-AF6B-4E72-8B9F35BD9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6D03D-E30D-DA22-3AE1-05336190377F}"/>
              </a:ext>
            </a:extLst>
          </p:cNvPr>
          <p:cNvSpPr>
            <a:spLocks noGrp="1"/>
          </p:cNvSpPr>
          <p:nvPr>
            <p:ph type="title"/>
          </p:nvPr>
        </p:nvSpPr>
        <p:spPr>
          <a:xfrm>
            <a:off x="331304" y="-155864"/>
            <a:ext cx="10515600" cy="2103196"/>
          </a:xfrm>
        </p:spPr>
        <p:txBody>
          <a:bodyPr>
            <a:noAutofit/>
          </a:bodyPr>
          <a:lstStyle/>
          <a:p>
            <a:r>
              <a:rPr lang="en-US" dirty="0">
                <a:latin typeface="Times New Roman" panose="02020603050405020304" pitchFamily="18" charset="0"/>
                <a:cs typeface="Times New Roman" panose="02020603050405020304" pitchFamily="18" charset="0"/>
              </a:rPr>
              <a:t>Technologies, and Methodologies</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71483FC-E5CE-F7F9-C345-A16A2F1BE681}"/>
              </a:ext>
            </a:extLst>
          </p:cNvPr>
          <p:cNvSpPr txBox="1"/>
          <p:nvPr/>
        </p:nvSpPr>
        <p:spPr>
          <a:xfrm>
            <a:off x="169334" y="1947332"/>
            <a:ext cx="11915294" cy="4290598"/>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Technologies: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Logistic regression, decision trees, and basic neural networks have been applied to structured mental health datasets (e.g., from questionnaires) to predict disorders like depression or anxiety.</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Limitations: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Most models: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Predict diagnosis rather than vulnerability (pre-clinical stage).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integration of demographic + behavioral + environmental factors.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Are not designed for low-resource or non-clinical settings.</a:t>
            </a:r>
          </a:p>
          <a:p>
            <a:pPr marL="285750" indent="-285750">
              <a:lnSpc>
                <a:spcPct val="150000"/>
              </a:lnSpc>
              <a:buFont typeface="Arial" panose="020B0604020202020204" pitchFamily="34" charset="0"/>
              <a:buChar char="•"/>
            </a:pP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7B0455E-D273-D435-7AC4-ABEB445A2C59}"/>
              </a:ext>
            </a:extLst>
          </p:cNvPr>
          <p:cNvPicPr>
            <a:picLocks noChangeAspect="1"/>
          </p:cNvPicPr>
          <p:nvPr/>
        </p:nvPicPr>
        <p:blipFill>
          <a:blip r:embed="rId2"/>
          <a:stretch>
            <a:fillRect/>
          </a:stretch>
        </p:blipFill>
        <p:spPr>
          <a:xfrm>
            <a:off x="9734309" y="126586"/>
            <a:ext cx="2126387" cy="1023223"/>
          </a:xfrm>
          <a:prstGeom prst="rect">
            <a:avLst/>
          </a:prstGeom>
        </p:spPr>
      </p:pic>
      <p:sp>
        <p:nvSpPr>
          <p:cNvPr id="5" name="Slide Number Placeholder 4">
            <a:extLst>
              <a:ext uri="{FF2B5EF4-FFF2-40B4-BE49-F238E27FC236}">
                <a16:creationId xmlns:a16="http://schemas.microsoft.com/office/drawing/2014/main" id="{1200B9F6-0FDE-F38F-6203-0870BAECD299}"/>
              </a:ext>
            </a:extLst>
          </p:cNvPr>
          <p:cNvSpPr>
            <a:spLocks noGrp="1"/>
          </p:cNvSpPr>
          <p:nvPr>
            <p:ph type="sldNum" sz="quarter" idx="12"/>
          </p:nvPr>
        </p:nvSpPr>
        <p:spPr/>
        <p:txBody>
          <a:bodyPr/>
          <a:lstStyle/>
          <a:p>
            <a:fld id="{D0063D55-1E1F-42B3-9539-F98231BC29CD}" type="slidenum">
              <a:rPr lang="en-IN" smtClean="0"/>
              <a:t>7</a:t>
            </a:fld>
            <a:endParaRPr lang="en-IN" dirty="0"/>
          </a:p>
        </p:txBody>
      </p:sp>
    </p:spTree>
    <p:extLst>
      <p:ext uri="{BB962C8B-B14F-4D97-AF65-F5344CB8AC3E}">
        <p14:creationId xmlns:p14="http://schemas.microsoft.com/office/powerpoint/2010/main" val="1438385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8B1EE-F5A8-BAD3-441D-F04001A860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B10EB3-6FF8-625B-84CA-7AF99B0F795C}"/>
              </a:ext>
            </a:extLst>
          </p:cNvPr>
          <p:cNvSpPr txBox="1"/>
          <p:nvPr/>
        </p:nvSpPr>
        <p:spPr>
          <a:xfrm>
            <a:off x="249382" y="1444336"/>
            <a:ext cx="11700163" cy="6524863"/>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Gaps:</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unified model using </a:t>
            </a:r>
            <a:r>
              <a:rPr lang="en-IN" sz="2400" b="1" dirty="0">
                <a:latin typeface="Times New Roman" panose="02020603050405020304" pitchFamily="18" charset="0"/>
                <a:cs typeface="Times New Roman" panose="02020603050405020304" pitchFamily="18" charset="0"/>
              </a:rPr>
              <a:t>demographic + </a:t>
            </a:r>
            <a:r>
              <a:rPr lang="en-IN" sz="2400" b="1" dirty="0" err="1">
                <a:latin typeface="Times New Roman" panose="02020603050405020304" pitchFamily="18" charset="0"/>
                <a:cs typeface="Times New Roman" panose="02020603050405020304" pitchFamily="18" charset="0"/>
              </a:rPr>
              <a:t>behavioral</a:t>
            </a:r>
            <a:r>
              <a:rPr lang="en-IN" sz="2400" b="1" dirty="0">
                <a:latin typeface="Times New Roman" panose="02020603050405020304" pitchFamily="18" charset="0"/>
                <a:cs typeface="Times New Roman" panose="02020603050405020304" pitchFamily="18" charset="0"/>
              </a:rPr>
              <a:t> + lifestyle</a:t>
            </a:r>
            <a:r>
              <a:rPr lang="en-IN" sz="2400" dirty="0">
                <a:latin typeface="Times New Roman" panose="02020603050405020304" pitchFamily="18" charset="0"/>
                <a:cs typeface="Times New Roman" panose="02020603050405020304" pitchFamily="18" charset="0"/>
              </a:rPr>
              <a:t> data for vulnerability prediction.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Absence of a </a:t>
            </a:r>
            <a:r>
              <a:rPr lang="en-IN" sz="2400" b="1" dirty="0">
                <a:latin typeface="Times New Roman" panose="02020603050405020304" pitchFamily="18" charset="0"/>
                <a:cs typeface="Times New Roman" panose="02020603050405020304" pitchFamily="18" charset="0"/>
              </a:rPr>
              <a:t>graded risk score</a:t>
            </a:r>
            <a:r>
              <a:rPr lang="en-IN" sz="2400" dirty="0">
                <a:latin typeface="Times New Roman" panose="02020603050405020304" pitchFamily="18" charset="0"/>
                <a:cs typeface="Times New Roman" panose="02020603050405020304" pitchFamily="18" charset="0"/>
              </a:rPr>
              <a:t> (low/medium/high vulnerability) instead of binary classification.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Scarcity of systems that work outside clinical environments with minimal user input.</a:t>
            </a:r>
          </a:p>
          <a:p>
            <a:endParaRPr lang="en-IN"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Challenges:</a:t>
            </a:r>
            <a:endParaRPr lang="en-IN"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privacy and ethical use.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Self-reported data biases (e.g., underreporting due to stigma).</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Imbalanced datasets (few positive cases).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Generalizability across cultures, occupations, genders.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Dynamic nature of mental health (temporal patterns).</a:t>
            </a:r>
          </a:p>
          <a:p>
            <a:br>
              <a:rPr lang="en-IN"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DE67FD8-5ECA-4754-650F-8B4B266147E1}"/>
              </a:ext>
            </a:extLst>
          </p:cNvPr>
          <p:cNvPicPr>
            <a:picLocks noChangeAspect="1"/>
          </p:cNvPicPr>
          <p:nvPr/>
        </p:nvPicPr>
        <p:blipFill>
          <a:blip r:embed="rId2"/>
          <a:stretch>
            <a:fillRect/>
          </a:stretch>
        </p:blipFill>
        <p:spPr>
          <a:xfrm>
            <a:off x="9734309" y="126586"/>
            <a:ext cx="2126387" cy="1023223"/>
          </a:xfrm>
          <a:prstGeom prst="rect">
            <a:avLst/>
          </a:prstGeom>
        </p:spPr>
      </p:pic>
      <p:sp>
        <p:nvSpPr>
          <p:cNvPr id="5" name="Rectangle 1">
            <a:extLst>
              <a:ext uri="{FF2B5EF4-FFF2-40B4-BE49-F238E27FC236}">
                <a16:creationId xmlns:a16="http://schemas.microsoft.com/office/drawing/2014/main" id="{4528557A-DEBB-D6C7-EC64-F82028B5A1AD}"/>
              </a:ext>
            </a:extLst>
          </p:cNvPr>
          <p:cNvSpPr>
            <a:spLocks noGrp="1" noChangeArrowheads="1"/>
          </p:cNvSpPr>
          <p:nvPr>
            <p:ph type="title"/>
          </p:nvPr>
        </p:nvSpPr>
        <p:spPr bwMode="auto">
          <a:xfrm>
            <a:off x="331788" y="511424"/>
            <a:ext cx="71545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Gaps and Challenges</a:t>
            </a:r>
          </a:p>
        </p:txBody>
      </p:sp>
      <p:sp>
        <p:nvSpPr>
          <p:cNvPr id="2" name="Slide Number Placeholder 1">
            <a:extLst>
              <a:ext uri="{FF2B5EF4-FFF2-40B4-BE49-F238E27FC236}">
                <a16:creationId xmlns:a16="http://schemas.microsoft.com/office/drawing/2014/main" id="{9703959A-81D0-F9B6-9C18-96611D106702}"/>
              </a:ext>
            </a:extLst>
          </p:cNvPr>
          <p:cNvSpPr>
            <a:spLocks noGrp="1"/>
          </p:cNvSpPr>
          <p:nvPr>
            <p:ph type="sldNum" sz="quarter" idx="12"/>
          </p:nvPr>
        </p:nvSpPr>
        <p:spPr/>
        <p:txBody>
          <a:bodyPr/>
          <a:lstStyle/>
          <a:p>
            <a:fld id="{D0063D55-1E1F-42B3-9539-F98231BC29CD}" type="slidenum">
              <a:rPr lang="en-IN" smtClean="0"/>
              <a:t>8</a:t>
            </a:fld>
            <a:endParaRPr lang="en-IN" dirty="0"/>
          </a:p>
        </p:txBody>
      </p:sp>
    </p:spTree>
    <p:extLst>
      <p:ext uri="{BB962C8B-B14F-4D97-AF65-F5344CB8AC3E}">
        <p14:creationId xmlns:p14="http://schemas.microsoft.com/office/powerpoint/2010/main" val="3187751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A5D07-543A-F8DA-E3A5-E34AA1D3A0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11C80E-C56E-4575-5841-1452B303DEF4}"/>
              </a:ext>
            </a:extLst>
          </p:cNvPr>
          <p:cNvSpPr txBox="1"/>
          <p:nvPr/>
        </p:nvSpPr>
        <p:spPr>
          <a:xfrm>
            <a:off x="79513" y="228600"/>
            <a:ext cx="8267200" cy="769441"/>
          </a:xfrm>
          <a:prstGeom prst="rect">
            <a:avLst/>
          </a:prstGeom>
          <a:noFill/>
        </p:spPr>
        <p:txBody>
          <a:bodyPr wrap="none" rtlCol="0">
            <a:spAutoFit/>
          </a:bodyPr>
          <a:lstStyle/>
          <a:p>
            <a:r>
              <a:rPr lang="en-US" sz="4400" dirty="0">
                <a:latin typeface="Times New Roman" panose="02020603050405020304" pitchFamily="18" charset="0"/>
                <a:ea typeface="+mj-ea"/>
                <a:cs typeface="Times New Roman" panose="02020603050405020304" pitchFamily="18" charset="0"/>
              </a:rPr>
              <a:t>Proposed Approach &amp; Architecture </a:t>
            </a:r>
            <a:endParaRPr lang="en-IN" sz="4400"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C7C1838A-5E28-7608-F11A-1FF57D85291A}"/>
              </a:ext>
            </a:extLst>
          </p:cNvPr>
          <p:cNvPicPr>
            <a:picLocks noChangeAspect="1"/>
          </p:cNvPicPr>
          <p:nvPr/>
        </p:nvPicPr>
        <p:blipFill>
          <a:blip r:embed="rId2"/>
          <a:stretch>
            <a:fillRect/>
          </a:stretch>
        </p:blipFill>
        <p:spPr>
          <a:xfrm>
            <a:off x="9549114" y="228600"/>
            <a:ext cx="1976328" cy="951015"/>
          </a:xfrm>
          <a:prstGeom prst="rect">
            <a:avLst/>
          </a:prstGeom>
        </p:spPr>
      </p:pic>
      <p:pic>
        <p:nvPicPr>
          <p:cNvPr id="7" name="Picture 6" descr="A diagram of a model">
            <a:extLst>
              <a:ext uri="{FF2B5EF4-FFF2-40B4-BE49-F238E27FC236}">
                <a16:creationId xmlns:a16="http://schemas.microsoft.com/office/drawing/2014/main" id="{675AE539-DB5A-BE48-6927-F5FE1FDF3AB8}"/>
              </a:ext>
            </a:extLst>
          </p:cNvPr>
          <p:cNvPicPr>
            <a:picLocks noChangeAspect="1"/>
          </p:cNvPicPr>
          <p:nvPr/>
        </p:nvPicPr>
        <p:blipFill>
          <a:blip r:embed="rId3"/>
          <a:stretch>
            <a:fillRect/>
          </a:stretch>
        </p:blipFill>
        <p:spPr>
          <a:xfrm>
            <a:off x="1693717" y="1045416"/>
            <a:ext cx="8427028" cy="5812584"/>
          </a:xfrm>
          <a:prstGeom prst="rect">
            <a:avLst/>
          </a:prstGeom>
        </p:spPr>
      </p:pic>
      <p:sp>
        <p:nvSpPr>
          <p:cNvPr id="2" name="Slide Number Placeholder 1">
            <a:extLst>
              <a:ext uri="{FF2B5EF4-FFF2-40B4-BE49-F238E27FC236}">
                <a16:creationId xmlns:a16="http://schemas.microsoft.com/office/drawing/2014/main" id="{31DF696B-C7F2-1890-B157-EDB35439F3F6}"/>
              </a:ext>
            </a:extLst>
          </p:cNvPr>
          <p:cNvSpPr>
            <a:spLocks noGrp="1"/>
          </p:cNvSpPr>
          <p:nvPr>
            <p:ph type="sldNum" sz="quarter" idx="12"/>
          </p:nvPr>
        </p:nvSpPr>
        <p:spPr/>
        <p:txBody>
          <a:bodyPr/>
          <a:lstStyle/>
          <a:p>
            <a:fld id="{D0063D55-1E1F-42B3-9539-F98231BC29CD}" type="slidenum">
              <a:rPr lang="en-IN" smtClean="0"/>
              <a:t>9</a:t>
            </a:fld>
            <a:endParaRPr lang="en-IN" dirty="0"/>
          </a:p>
        </p:txBody>
      </p:sp>
    </p:spTree>
    <p:extLst>
      <p:ext uri="{BB962C8B-B14F-4D97-AF65-F5344CB8AC3E}">
        <p14:creationId xmlns:p14="http://schemas.microsoft.com/office/powerpoint/2010/main" val="3638643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B7B72-EB99-B893-F29A-E6FF57BA1C7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Novelty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AD96B5-4D63-DB74-AA47-511CE17933DD}"/>
              </a:ext>
            </a:extLst>
          </p:cNvPr>
          <p:cNvSpPr>
            <a:spLocks noGrp="1"/>
          </p:cNvSpPr>
          <p:nvPr>
            <p:ph idx="1"/>
          </p:nvPr>
        </p:nvSpPr>
        <p:spPr>
          <a:xfrm>
            <a:off x="838199" y="1825625"/>
            <a:ext cx="4315691" cy="1603375"/>
          </a:xfrm>
        </p:spPr>
        <p:txBody>
          <a:bodyPr>
            <a:normAutofit/>
          </a:bodyPr>
          <a:lstStyle/>
          <a:p>
            <a:pPr marL="0" lvl="0" indent="0" eaLnBrk="0" fontAlgn="base" hangingPunct="0">
              <a:lnSpc>
                <a:spcPct val="100000"/>
              </a:lnSpc>
              <a:spcBef>
                <a:spcPct val="0"/>
              </a:spcBef>
              <a:spcAft>
                <a:spcPct val="0"/>
              </a:spcAft>
              <a:buNone/>
            </a:pPr>
            <a:r>
              <a:rPr lang="en-US" altLang="en-US" sz="2000" b="1" dirty="0">
                <a:latin typeface="Times New Roman" panose="02020603050405020304" pitchFamily="18" charset="0"/>
                <a:cs typeface="Times New Roman" panose="02020603050405020304" pitchFamily="18" charset="0"/>
              </a:rPr>
              <a:t>1. Prevention-First Framework</a:t>
            </a:r>
            <a:endParaRPr lang="en-US" altLang="en-US" sz="4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Predicts mental health vulnerability, not diagnosis</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Classifies risk as Low / Medium / High</a:t>
            </a:r>
          </a:p>
          <a:p>
            <a:pPr marL="0" lvl="0" indent="0"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Supports early intervention before crises</a:t>
            </a:r>
          </a:p>
          <a:p>
            <a:pPr marL="0" indent="0">
              <a:buNone/>
            </a:pPr>
            <a:endParaRPr lang="en-IN" sz="1600" dirty="0"/>
          </a:p>
        </p:txBody>
      </p:sp>
      <p:sp>
        <p:nvSpPr>
          <p:cNvPr id="6" name="TextBox 5">
            <a:extLst>
              <a:ext uri="{FF2B5EF4-FFF2-40B4-BE49-F238E27FC236}">
                <a16:creationId xmlns:a16="http://schemas.microsoft.com/office/drawing/2014/main" id="{638B17B0-0BB2-6DE8-F0A1-8F4F29CEF3A1}"/>
              </a:ext>
            </a:extLst>
          </p:cNvPr>
          <p:cNvSpPr txBox="1"/>
          <p:nvPr/>
        </p:nvSpPr>
        <p:spPr>
          <a:xfrm>
            <a:off x="6795654" y="2462645"/>
            <a:ext cx="4966855" cy="1754326"/>
          </a:xfrm>
          <a:prstGeom prst="rect">
            <a:avLst/>
          </a:prstGeom>
          <a:noFill/>
        </p:spPr>
        <p:txBody>
          <a:bodyPr wrap="square" rtlCol="0">
            <a:spAutoFit/>
          </a:bodyPr>
          <a:lstStyle/>
          <a:p>
            <a:pPr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2. Hybrid Intelligence Architecture</a:t>
            </a: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Uses autoencoders to learn behavior patterns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Combines machine learning and deep learning models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Applies transfer learning for adaptability</a:t>
            </a:r>
          </a:p>
          <a:p>
            <a:endParaRPr lang="en-IN" dirty="0"/>
          </a:p>
        </p:txBody>
      </p:sp>
      <p:sp>
        <p:nvSpPr>
          <p:cNvPr id="7" name="TextBox 6">
            <a:extLst>
              <a:ext uri="{FF2B5EF4-FFF2-40B4-BE49-F238E27FC236}">
                <a16:creationId xmlns:a16="http://schemas.microsoft.com/office/drawing/2014/main" id="{D6A9F785-F1A6-63EA-17C5-654A96E119B0}"/>
              </a:ext>
            </a:extLst>
          </p:cNvPr>
          <p:cNvSpPr txBox="1"/>
          <p:nvPr/>
        </p:nvSpPr>
        <p:spPr>
          <a:xfrm>
            <a:off x="955964" y="3813464"/>
            <a:ext cx="3896591" cy="1477328"/>
          </a:xfrm>
          <a:prstGeom prst="rect">
            <a:avLst/>
          </a:prstGeom>
          <a:noFill/>
        </p:spPr>
        <p:txBody>
          <a:bodyPr wrap="square" rtlCol="0">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3. Explainable AI</a:t>
            </a: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Clearly shows important features</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Explains why a person is at risk</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Provides actionable insights</a:t>
            </a:r>
          </a:p>
          <a:p>
            <a:endParaRPr lang="en-IN" dirty="0"/>
          </a:p>
        </p:txBody>
      </p:sp>
      <p:sp>
        <p:nvSpPr>
          <p:cNvPr id="9" name="TextBox 8">
            <a:extLst>
              <a:ext uri="{FF2B5EF4-FFF2-40B4-BE49-F238E27FC236}">
                <a16:creationId xmlns:a16="http://schemas.microsoft.com/office/drawing/2014/main" id="{D3859B5F-23EB-F9BF-B676-330956720F4D}"/>
              </a:ext>
            </a:extLst>
          </p:cNvPr>
          <p:cNvSpPr txBox="1"/>
          <p:nvPr/>
        </p:nvSpPr>
        <p:spPr>
          <a:xfrm>
            <a:off x="7003473" y="4821382"/>
            <a:ext cx="4966855" cy="1477328"/>
          </a:xfrm>
          <a:prstGeom prst="rect">
            <a:avLst/>
          </a:prstGeom>
          <a:noFill/>
        </p:spPr>
        <p:txBody>
          <a:bodyPr wrap="square" rtlCol="0">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4. Privacy-Preserving Design</a:t>
            </a: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No personal identifiers collected</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Fully anonymous predictions</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Follows ethical and data protection standards</a:t>
            </a:r>
          </a:p>
          <a:p>
            <a:endParaRPr lang="en-IN" dirty="0"/>
          </a:p>
        </p:txBody>
      </p:sp>
      <p:pic>
        <p:nvPicPr>
          <p:cNvPr id="10" name="Picture 9">
            <a:extLst>
              <a:ext uri="{FF2B5EF4-FFF2-40B4-BE49-F238E27FC236}">
                <a16:creationId xmlns:a16="http://schemas.microsoft.com/office/drawing/2014/main" id="{3A8D19AB-D69B-903C-D65C-E09BE502E422}"/>
              </a:ext>
            </a:extLst>
          </p:cNvPr>
          <p:cNvPicPr>
            <a:picLocks noChangeAspect="1"/>
          </p:cNvPicPr>
          <p:nvPr/>
        </p:nvPicPr>
        <p:blipFill>
          <a:blip r:embed="rId2"/>
          <a:stretch>
            <a:fillRect/>
          </a:stretch>
        </p:blipFill>
        <p:spPr>
          <a:xfrm>
            <a:off x="9549114" y="228600"/>
            <a:ext cx="1976328" cy="951015"/>
          </a:xfrm>
          <a:prstGeom prst="rect">
            <a:avLst/>
          </a:prstGeom>
        </p:spPr>
      </p:pic>
      <p:sp>
        <p:nvSpPr>
          <p:cNvPr id="4" name="Slide Number Placeholder 3">
            <a:extLst>
              <a:ext uri="{FF2B5EF4-FFF2-40B4-BE49-F238E27FC236}">
                <a16:creationId xmlns:a16="http://schemas.microsoft.com/office/drawing/2014/main" id="{B935C979-42AE-E212-BE6E-27261A6A7DFD}"/>
              </a:ext>
            </a:extLst>
          </p:cNvPr>
          <p:cNvSpPr>
            <a:spLocks noGrp="1"/>
          </p:cNvSpPr>
          <p:nvPr>
            <p:ph type="sldNum" sz="quarter" idx="12"/>
          </p:nvPr>
        </p:nvSpPr>
        <p:spPr/>
        <p:txBody>
          <a:bodyPr/>
          <a:lstStyle/>
          <a:p>
            <a:fld id="{D0063D55-1E1F-42B3-9539-F98231BC29CD}" type="slidenum">
              <a:rPr lang="en-IN" smtClean="0"/>
              <a:t>10</a:t>
            </a:fld>
            <a:endParaRPr lang="en-IN" dirty="0"/>
          </a:p>
        </p:txBody>
      </p:sp>
    </p:spTree>
    <p:extLst>
      <p:ext uri="{BB962C8B-B14F-4D97-AF65-F5344CB8AC3E}">
        <p14:creationId xmlns:p14="http://schemas.microsoft.com/office/powerpoint/2010/main" val="2299968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85F8C-FD44-646C-DEE1-CAB678779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EBF1D-03BD-8BD2-E83D-9930292896BE}"/>
              </a:ext>
            </a:extLst>
          </p:cNvPr>
          <p:cNvSpPr>
            <a:spLocks noGrp="1"/>
          </p:cNvSpPr>
          <p:nvPr>
            <p:ph type="title"/>
          </p:nvPr>
        </p:nvSpPr>
        <p:spPr>
          <a:xfrm>
            <a:off x="331304" y="126586"/>
            <a:ext cx="10515600" cy="1205258"/>
          </a:xfrm>
        </p:spPr>
        <p:txBody>
          <a:bodyPr/>
          <a:lstStyle/>
          <a:p>
            <a:r>
              <a:rPr lang="en-US" dirty="0">
                <a:latin typeface="Times New Roman" panose="02020603050405020304" pitchFamily="18" charset="0"/>
                <a:cs typeface="Times New Roman" panose="02020603050405020304" pitchFamily="18" charset="0"/>
              </a:rPr>
              <a:t>Key Contributions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1D511AC-BCC9-48D3-85D5-0671B25BC8C9}"/>
              </a:ext>
            </a:extLst>
          </p:cNvPr>
          <p:cNvPicPr>
            <a:picLocks noChangeAspect="1"/>
          </p:cNvPicPr>
          <p:nvPr/>
        </p:nvPicPr>
        <p:blipFill>
          <a:blip r:embed="rId2"/>
          <a:stretch>
            <a:fillRect/>
          </a:stretch>
        </p:blipFill>
        <p:spPr>
          <a:xfrm>
            <a:off x="9734309" y="126586"/>
            <a:ext cx="2126387" cy="1023223"/>
          </a:xfrm>
          <a:prstGeom prst="rect">
            <a:avLst/>
          </a:prstGeom>
        </p:spPr>
      </p:pic>
      <p:graphicFrame>
        <p:nvGraphicFramePr>
          <p:cNvPr id="5" name="Table 4">
            <a:extLst>
              <a:ext uri="{FF2B5EF4-FFF2-40B4-BE49-F238E27FC236}">
                <a16:creationId xmlns:a16="http://schemas.microsoft.com/office/drawing/2014/main" id="{0158054A-82A0-3615-C328-5C6EA9C4D809}"/>
              </a:ext>
            </a:extLst>
          </p:cNvPr>
          <p:cNvGraphicFramePr>
            <a:graphicFrameLocks noGrp="1"/>
          </p:cNvGraphicFramePr>
          <p:nvPr>
            <p:extLst>
              <p:ext uri="{D42A27DB-BD31-4B8C-83A1-F6EECF244321}">
                <p14:modId xmlns:p14="http://schemas.microsoft.com/office/powerpoint/2010/main" val="223422713"/>
              </p:ext>
            </p:extLst>
          </p:nvPr>
        </p:nvGraphicFramePr>
        <p:xfrm>
          <a:off x="779318" y="1465118"/>
          <a:ext cx="9942895" cy="4684404"/>
        </p:xfrm>
        <a:graphic>
          <a:graphicData uri="http://schemas.openxmlformats.org/drawingml/2006/table">
            <a:tbl>
              <a:tblPr firstRow="1" bandRow="1">
                <a:tableStyleId>{5C22544A-7EE6-4342-B048-85BDC9FD1C3A}</a:tableStyleId>
              </a:tblPr>
              <a:tblGrid>
                <a:gridCol w="3693411">
                  <a:extLst>
                    <a:ext uri="{9D8B030D-6E8A-4147-A177-3AD203B41FA5}">
                      <a16:colId xmlns:a16="http://schemas.microsoft.com/office/drawing/2014/main" val="2427564154"/>
                    </a:ext>
                  </a:extLst>
                </a:gridCol>
                <a:gridCol w="6249484">
                  <a:extLst>
                    <a:ext uri="{9D8B030D-6E8A-4147-A177-3AD203B41FA5}">
                      <a16:colId xmlns:a16="http://schemas.microsoft.com/office/drawing/2014/main" val="273424131"/>
                    </a:ext>
                  </a:extLst>
                </a:gridCol>
              </a:tblGrid>
              <a:tr h="780734">
                <a:tc>
                  <a:txBody>
                    <a:bodyPr/>
                    <a:lstStyle/>
                    <a:p>
                      <a:r>
                        <a:rPr lang="en-US" dirty="0">
                          <a:latin typeface="Times New Roman" panose="02020603050405020304" pitchFamily="18" charset="0"/>
                          <a:cs typeface="Times New Roman" panose="02020603050405020304" pitchFamily="18" charset="0"/>
                        </a:rPr>
                        <a:t>Team Member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Contribution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1135597"/>
                  </a:ext>
                </a:extLst>
              </a:tr>
              <a:tr h="780734">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Mohitha Bandi</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ETL &amp; Deep Learning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32144236"/>
                  </a:ext>
                </a:extLst>
              </a:tr>
              <a:tr h="780734">
                <a:tc>
                  <a:txBody>
                    <a:bodyPr/>
                    <a:lstStyle/>
                    <a:p>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Pailla</a:t>
                      </a:r>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 Bhavya</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Research Design &amp;  &amp; EDA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1766181"/>
                  </a:ext>
                </a:extLst>
              </a:tr>
              <a:tr h="780734">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Harshavardhan Reddy</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Traditional Models &amp; Features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87232657"/>
                  </a:ext>
                </a:extLst>
              </a:tr>
              <a:tr h="780734">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Siddhartha Reddy</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Coordination &amp; Advanced Models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5385812"/>
                  </a:ext>
                </a:extLst>
              </a:tr>
              <a:tr h="780734">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Pragnan </a:t>
                      </a:r>
                      <a:r>
                        <a:rPr lang="en-IN" sz="1800" b="0" i="0" kern="1200" dirty="0" err="1">
                          <a:solidFill>
                            <a:schemeClr val="dk1"/>
                          </a:solidFill>
                          <a:effectLst/>
                          <a:latin typeface="Times New Roman" panose="02020603050405020304" pitchFamily="18" charset="0"/>
                          <a:ea typeface="+mn-ea"/>
                          <a:cs typeface="Times New Roman" panose="02020603050405020304" pitchFamily="18" charset="0"/>
                        </a:rPr>
                        <a:t>Seemakurthi</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Data Collection &amp; System Integration</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4625530"/>
                  </a:ext>
                </a:extLst>
              </a:tr>
            </a:tbl>
          </a:graphicData>
        </a:graphic>
      </p:graphicFrame>
      <p:sp>
        <p:nvSpPr>
          <p:cNvPr id="3" name="Slide Number Placeholder 2">
            <a:extLst>
              <a:ext uri="{FF2B5EF4-FFF2-40B4-BE49-F238E27FC236}">
                <a16:creationId xmlns:a16="http://schemas.microsoft.com/office/drawing/2014/main" id="{AAA540B0-740B-6B50-1A47-BF8F4A74870D}"/>
              </a:ext>
            </a:extLst>
          </p:cNvPr>
          <p:cNvSpPr>
            <a:spLocks noGrp="1"/>
          </p:cNvSpPr>
          <p:nvPr>
            <p:ph type="sldNum" sz="quarter" idx="12"/>
          </p:nvPr>
        </p:nvSpPr>
        <p:spPr/>
        <p:txBody>
          <a:bodyPr/>
          <a:lstStyle/>
          <a:p>
            <a:fld id="{D0063D55-1E1F-42B3-9539-F98231BC29CD}" type="slidenum">
              <a:rPr lang="en-IN" smtClean="0"/>
              <a:t>11</a:t>
            </a:fld>
            <a:endParaRPr lang="en-IN" dirty="0"/>
          </a:p>
        </p:txBody>
      </p:sp>
    </p:spTree>
    <p:extLst>
      <p:ext uri="{BB962C8B-B14F-4D97-AF65-F5344CB8AC3E}">
        <p14:creationId xmlns:p14="http://schemas.microsoft.com/office/powerpoint/2010/main" val="3354464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350EFA-C1A9-E079-2DFD-F977EE1C44D9}"/>
              </a:ext>
            </a:extLst>
          </p:cNvPr>
          <p:cNvSpPr txBox="1"/>
          <p:nvPr/>
        </p:nvSpPr>
        <p:spPr>
          <a:xfrm>
            <a:off x="79513" y="228600"/>
            <a:ext cx="1846980" cy="769441"/>
          </a:xfrm>
          <a:prstGeom prst="rect">
            <a:avLst/>
          </a:prstGeom>
          <a:noFill/>
        </p:spPr>
        <p:txBody>
          <a:bodyPr wrap="none" rtlCol="0">
            <a:spAutoFit/>
          </a:bodyPr>
          <a:lstStyle/>
          <a:p>
            <a:r>
              <a:rPr lang="en-US" sz="4400" dirty="0">
                <a:latin typeface="Times New Roman" panose="02020603050405020304" pitchFamily="18" charset="0"/>
                <a:ea typeface="+mj-ea"/>
                <a:cs typeface="Times New Roman" panose="02020603050405020304" pitchFamily="18" charset="0"/>
              </a:rPr>
              <a:t>Results</a:t>
            </a:r>
            <a:endParaRPr lang="en-IN" sz="4400" dirty="0">
              <a:latin typeface="Times New Roman" panose="02020603050405020304" pitchFamily="18" charset="0"/>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9773A379-65E2-394A-EAAF-6803D6E38492}"/>
              </a:ext>
            </a:extLst>
          </p:cNvPr>
          <p:cNvPicPr>
            <a:picLocks noChangeAspect="1"/>
          </p:cNvPicPr>
          <p:nvPr/>
        </p:nvPicPr>
        <p:blipFill>
          <a:blip r:embed="rId3"/>
          <a:stretch>
            <a:fillRect/>
          </a:stretch>
        </p:blipFill>
        <p:spPr>
          <a:xfrm>
            <a:off x="9549114" y="228601"/>
            <a:ext cx="2000262" cy="962532"/>
          </a:xfrm>
          <a:prstGeom prst="rect">
            <a:avLst/>
          </a:prstGeom>
        </p:spPr>
      </p:pic>
      <p:pic>
        <p:nvPicPr>
          <p:cNvPr id="5" name="Picture 4">
            <a:extLst>
              <a:ext uri="{FF2B5EF4-FFF2-40B4-BE49-F238E27FC236}">
                <a16:creationId xmlns:a16="http://schemas.microsoft.com/office/drawing/2014/main" id="{EA1B46AF-AE2A-F6BF-02C7-9C5BB78975F7}"/>
              </a:ext>
            </a:extLst>
          </p:cNvPr>
          <p:cNvPicPr>
            <a:picLocks noChangeAspect="1"/>
          </p:cNvPicPr>
          <p:nvPr/>
        </p:nvPicPr>
        <p:blipFill>
          <a:blip r:embed="rId4"/>
          <a:stretch>
            <a:fillRect/>
          </a:stretch>
        </p:blipFill>
        <p:spPr>
          <a:xfrm>
            <a:off x="374073" y="1719621"/>
            <a:ext cx="11734800" cy="4909778"/>
          </a:xfrm>
          <a:prstGeom prst="rect">
            <a:avLst/>
          </a:prstGeom>
        </p:spPr>
      </p:pic>
      <p:sp>
        <p:nvSpPr>
          <p:cNvPr id="2" name="Slide Number Placeholder 1">
            <a:extLst>
              <a:ext uri="{FF2B5EF4-FFF2-40B4-BE49-F238E27FC236}">
                <a16:creationId xmlns:a16="http://schemas.microsoft.com/office/drawing/2014/main" id="{E9D2EDED-6BA9-B9F0-9A61-0FCB791057C4}"/>
              </a:ext>
            </a:extLst>
          </p:cNvPr>
          <p:cNvSpPr>
            <a:spLocks noGrp="1"/>
          </p:cNvSpPr>
          <p:nvPr>
            <p:ph type="sldNum" sz="quarter" idx="12"/>
          </p:nvPr>
        </p:nvSpPr>
        <p:spPr/>
        <p:txBody>
          <a:bodyPr/>
          <a:lstStyle/>
          <a:p>
            <a:fld id="{D0063D55-1E1F-42B3-9539-F98231BC29CD}" type="slidenum">
              <a:rPr lang="en-IN" smtClean="0"/>
              <a:t>12</a:t>
            </a:fld>
            <a:endParaRPr lang="en-IN" dirty="0"/>
          </a:p>
        </p:txBody>
      </p:sp>
    </p:spTree>
    <p:extLst>
      <p:ext uri="{BB962C8B-B14F-4D97-AF65-F5344CB8AC3E}">
        <p14:creationId xmlns:p14="http://schemas.microsoft.com/office/powerpoint/2010/main" val="781109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76A35-1455-0892-266D-81A32F25B0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1FA0D3-446B-466D-2367-EDD0CF24E1EA}"/>
              </a:ext>
            </a:extLst>
          </p:cNvPr>
          <p:cNvSpPr txBox="1"/>
          <p:nvPr/>
        </p:nvSpPr>
        <p:spPr>
          <a:xfrm>
            <a:off x="79513" y="228600"/>
            <a:ext cx="1846980" cy="769441"/>
          </a:xfrm>
          <a:prstGeom prst="rect">
            <a:avLst/>
          </a:prstGeom>
          <a:noFill/>
        </p:spPr>
        <p:txBody>
          <a:bodyPr wrap="none" rtlCol="0">
            <a:spAutoFit/>
          </a:bodyPr>
          <a:lstStyle/>
          <a:p>
            <a:r>
              <a:rPr lang="en-US" sz="4400" dirty="0">
                <a:latin typeface="Times New Roman" panose="02020603050405020304" pitchFamily="18" charset="0"/>
                <a:ea typeface="+mj-ea"/>
                <a:cs typeface="Times New Roman" panose="02020603050405020304" pitchFamily="18" charset="0"/>
              </a:rPr>
              <a:t>Results</a:t>
            </a:r>
            <a:endParaRPr lang="en-IN" sz="4400" dirty="0">
              <a:latin typeface="Times New Roman" panose="02020603050405020304" pitchFamily="18" charset="0"/>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9C4CA9C7-ACCC-1583-3F30-0581669F3A20}"/>
              </a:ext>
            </a:extLst>
          </p:cNvPr>
          <p:cNvPicPr>
            <a:picLocks noChangeAspect="1"/>
          </p:cNvPicPr>
          <p:nvPr/>
        </p:nvPicPr>
        <p:blipFill>
          <a:blip r:embed="rId3"/>
          <a:stretch>
            <a:fillRect/>
          </a:stretch>
        </p:blipFill>
        <p:spPr>
          <a:xfrm>
            <a:off x="11181144" y="0"/>
            <a:ext cx="1010856" cy="486427"/>
          </a:xfrm>
          <a:prstGeom prst="rect">
            <a:avLst/>
          </a:prstGeom>
        </p:spPr>
      </p:pic>
      <p:pic>
        <p:nvPicPr>
          <p:cNvPr id="9" name="Picture 8">
            <a:extLst>
              <a:ext uri="{FF2B5EF4-FFF2-40B4-BE49-F238E27FC236}">
                <a16:creationId xmlns:a16="http://schemas.microsoft.com/office/drawing/2014/main" id="{BC9C0187-A415-AB61-044E-434921FAE1BD}"/>
              </a:ext>
            </a:extLst>
          </p:cNvPr>
          <p:cNvPicPr>
            <a:picLocks noChangeAspect="1"/>
          </p:cNvPicPr>
          <p:nvPr/>
        </p:nvPicPr>
        <p:blipFill>
          <a:blip r:embed="rId4"/>
          <a:stretch>
            <a:fillRect/>
          </a:stretch>
        </p:blipFill>
        <p:spPr>
          <a:xfrm>
            <a:off x="265384" y="998038"/>
            <a:ext cx="4865416" cy="5727882"/>
          </a:xfrm>
          <a:prstGeom prst="rect">
            <a:avLst/>
          </a:prstGeom>
        </p:spPr>
      </p:pic>
      <p:pic>
        <p:nvPicPr>
          <p:cNvPr id="11" name="Picture 10">
            <a:extLst>
              <a:ext uri="{FF2B5EF4-FFF2-40B4-BE49-F238E27FC236}">
                <a16:creationId xmlns:a16="http://schemas.microsoft.com/office/drawing/2014/main" id="{B08AFBCD-5101-83E6-BA82-256AE77CB6DB}"/>
              </a:ext>
            </a:extLst>
          </p:cNvPr>
          <p:cNvPicPr>
            <a:picLocks noChangeAspect="1"/>
          </p:cNvPicPr>
          <p:nvPr/>
        </p:nvPicPr>
        <p:blipFill>
          <a:blip r:embed="rId5"/>
          <a:stretch>
            <a:fillRect/>
          </a:stretch>
        </p:blipFill>
        <p:spPr>
          <a:xfrm>
            <a:off x="5723788" y="0"/>
            <a:ext cx="5357064" cy="6858000"/>
          </a:xfrm>
          <a:prstGeom prst="rect">
            <a:avLst/>
          </a:prstGeom>
        </p:spPr>
      </p:pic>
      <p:sp>
        <p:nvSpPr>
          <p:cNvPr id="12" name="Slide Number Placeholder 11">
            <a:extLst>
              <a:ext uri="{FF2B5EF4-FFF2-40B4-BE49-F238E27FC236}">
                <a16:creationId xmlns:a16="http://schemas.microsoft.com/office/drawing/2014/main" id="{5BD7363A-412B-E229-644E-1EB7365E0CA5}"/>
              </a:ext>
            </a:extLst>
          </p:cNvPr>
          <p:cNvSpPr>
            <a:spLocks noGrp="1"/>
          </p:cNvSpPr>
          <p:nvPr>
            <p:ph type="sldNum" sz="quarter" idx="12"/>
          </p:nvPr>
        </p:nvSpPr>
        <p:spPr/>
        <p:txBody>
          <a:bodyPr/>
          <a:lstStyle/>
          <a:p>
            <a:fld id="{D0063D55-1E1F-42B3-9539-F98231BC29CD}" type="slidenum">
              <a:rPr lang="en-IN" smtClean="0"/>
              <a:t>13</a:t>
            </a:fld>
            <a:endParaRPr lang="en-IN" dirty="0"/>
          </a:p>
        </p:txBody>
      </p:sp>
    </p:spTree>
    <p:extLst>
      <p:ext uri="{BB962C8B-B14F-4D97-AF65-F5344CB8AC3E}">
        <p14:creationId xmlns:p14="http://schemas.microsoft.com/office/powerpoint/2010/main" val="1770506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2E26-D5EB-3CA7-78AF-8599980042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9859B3-B1F2-042A-9AC6-CF85943D0388}"/>
              </a:ext>
            </a:extLst>
          </p:cNvPr>
          <p:cNvSpPr txBox="1"/>
          <p:nvPr/>
        </p:nvSpPr>
        <p:spPr>
          <a:xfrm>
            <a:off x="79513" y="228600"/>
            <a:ext cx="1846980" cy="769441"/>
          </a:xfrm>
          <a:prstGeom prst="rect">
            <a:avLst/>
          </a:prstGeom>
          <a:noFill/>
        </p:spPr>
        <p:txBody>
          <a:bodyPr wrap="none" rtlCol="0">
            <a:spAutoFit/>
          </a:bodyPr>
          <a:lstStyle/>
          <a:p>
            <a:r>
              <a:rPr lang="en-US" sz="4400" dirty="0">
                <a:latin typeface="Times New Roman" panose="02020603050405020304" pitchFamily="18" charset="0"/>
                <a:ea typeface="+mj-ea"/>
                <a:cs typeface="Times New Roman" panose="02020603050405020304" pitchFamily="18" charset="0"/>
              </a:rPr>
              <a:t>Results</a:t>
            </a:r>
            <a:endParaRPr lang="en-IN" sz="4400" dirty="0">
              <a:latin typeface="Times New Roman" panose="02020603050405020304" pitchFamily="18" charset="0"/>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9D25A062-0637-F1C4-F8A8-5DFA5783AE63}"/>
              </a:ext>
            </a:extLst>
          </p:cNvPr>
          <p:cNvPicPr>
            <a:picLocks noChangeAspect="1"/>
          </p:cNvPicPr>
          <p:nvPr/>
        </p:nvPicPr>
        <p:blipFill>
          <a:blip r:embed="rId3"/>
          <a:stretch>
            <a:fillRect/>
          </a:stretch>
        </p:blipFill>
        <p:spPr>
          <a:xfrm>
            <a:off x="11181144" y="0"/>
            <a:ext cx="1010856" cy="486427"/>
          </a:xfrm>
          <a:prstGeom prst="rect">
            <a:avLst/>
          </a:prstGeom>
        </p:spPr>
      </p:pic>
      <p:pic>
        <p:nvPicPr>
          <p:cNvPr id="8" name="Picture 7">
            <a:extLst>
              <a:ext uri="{FF2B5EF4-FFF2-40B4-BE49-F238E27FC236}">
                <a16:creationId xmlns:a16="http://schemas.microsoft.com/office/drawing/2014/main" id="{483EE9CA-9463-758C-9004-2EC9770B4138}"/>
              </a:ext>
            </a:extLst>
          </p:cNvPr>
          <p:cNvPicPr>
            <a:picLocks noChangeAspect="1"/>
          </p:cNvPicPr>
          <p:nvPr/>
        </p:nvPicPr>
        <p:blipFill>
          <a:blip r:embed="rId4"/>
          <a:stretch>
            <a:fillRect/>
          </a:stretch>
        </p:blipFill>
        <p:spPr>
          <a:xfrm>
            <a:off x="1730829" y="998040"/>
            <a:ext cx="8567057" cy="5723435"/>
          </a:xfrm>
          <a:prstGeom prst="rect">
            <a:avLst/>
          </a:prstGeom>
        </p:spPr>
      </p:pic>
      <p:sp>
        <p:nvSpPr>
          <p:cNvPr id="9" name="Slide Number Placeholder 8">
            <a:extLst>
              <a:ext uri="{FF2B5EF4-FFF2-40B4-BE49-F238E27FC236}">
                <a16:creationId xmlns:a16="http://schemas.microsoft.com/office/drawing/2014/main" id="{7218BA48-45C0-B3FC-F319-33353D2AF882}"/>
              </a:ext>
            </a:extLst>
          </p:cNvPr>
          <p:cNvSpPr>
            <a:spLocks noGrp="1"/>
          </p:cNvSpPr>
          <p:nvPr>
            <p:ph type="sldNum" sz="quarter" idx="12"/>
          </p:nvPr>
        </p:nvSpPr>
        <p:spPr/>
        <p:txBody>
          <a:bodyPr/>
          <a:lstStyle/>
          <a:p>
            <a:fld id="{D0063D55-1E1F-42B3-9539-F98231BC29CD}" type="slidenum">
              <a:rPr lang="en-IN" smtClean="0"/>
              <a:t>14</a:t>
            </a:fld>
            <a:endParaRPr lang="en-IN" dirty="0"/>
          </a:p>
        </p:txBody>
      </p:sp>
    </p:spTree>
    <p:extLst>
      <p:ext uri="{BB962C8B-B14F-4D97-AF65-F5344CB8AC3E}">
        <p14:creationId xmlns:p14="http://schemas.microsoft.com/office/powerpoint/2010/main" val="796737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227D1-9269-D2C8-2B4A-7E0CED2C62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6687B9-E4E9-C610-68D2-94EB93EDF799}"/>
              </a:ext>
            </a:extLst>
          </p:cNvPr>
          <p:cNvSpPr txBox="1"/>
          <p:nvPr/>
        </p:nvSpPr>
        <p:spPr>
          <a:xfrm>
            <a:off x="221770" y="-71120"/>
            <a:ext cx="2531590" cy="769441"/>
          </a:xfrm>
          <a:prstGeom prst="rect">
            <a:avLst/>
          </a:prstGeom>
          <a:noFill/>
        </p:spPr>
        <p:txBody>
          <a:bodyPr wrap="square" rtlCol="0">
            <a:spAutoFit/>
          </a:bodyPr>
          <a:lstStyle/>
          <a:p>
            <a:r>
              <a:rPr lang="en-US" sz="4400" dirty="0">
                <a:latin typeface="Times New Roman" panose="02020603050405020304" pitchFamily="18" charset="0"/>
                <a:ea typeface="+mj-ea"/>
                <a:cs typeface="Times New Roman" panose="02020603050405020304" pitchFamily="18" charset="0"/>
              </a:rPr>
              <a:t>Results</a:t>
            </a:r>
            <a:endParaRPr lang="en-IN" sz="4400"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3BAA8BEB-6DCB-B85C-0F3B-E0F26942F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518" b="6512"/>
          <a:stretch>
            <a:fillRect/>
          </a:stretch>
        </p:blipFill>
        <p:spPr bwMode="auto">
          <a:xfrm>
            <a:off x="-4446" y="675005"/>
            <a:ext cx="5744846" cy="2352675"/>
          </a:xfrm>
          <a:prstGeom prst="rect">
            <a:avLst/>
          </a:prstGeom>
          <a:solidFill>
            <a:schemeClr val="tx2">
              <a:alpha val="90000"/>
            </a:schemeClr>
          </a:solidFill>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2515625C-ABFA-F37B-DFE1-9FD280F90F2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53166" r="9081" b="5198"/>
          <a:stretch>
            <a:fillRect/>
          </a:stretch>
        </p:blipFill>
        <p:spPr bwMode="auto">
          <a:xfrm>
            <a:off x="-101114" y="3027680"/>
            <a:ext cx="5837068" cy="1183600"/>
          </a:xfrm>
          <a:prstGeom prst="rect">
            <a:avLst/>
          </a:prstGeom>
          <a:noFill/>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42E326F8-F42A-9CE0-1800-CDFEEA2ABD4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4043" b="6141"/>
          <a:stretch>
            <a:fillRect/>
          </a:stretch>
        </p:blipFill>
        <p:spPr bwMode="auto">
          <a:xfrm>
            <a:off x="5958584" y="0"/>
            <a:ext cx="6233416" cy="3027680"/>
          </a:xfrm>
          <a:prstGeom prst="rect">
            <a:avLst/>
          </a:prstGeom>
          <a:noFill/>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B876CA41-9022-C7CF-C09E-13A45A4D8A6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8448" b="50440"/>
          <a:stretch>
            <a:fillRect/>
          </a:stretch>
        </p:blipFill>
        <p:spPr bwMode="auto">
          <a:xfrm>
            <a:off x="5958584" y="3027680"/>
            <a:ext cx="6233416" cy="913955"/>
          </a:xfrm>
          <a:prstGeom prst="rect">
            <a:avLst/>
          </a:prstGeom>
          <a:noFill/>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9BACCE86-16A0-1E54-BF1B-E9F1BB2CE48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4138" b="30393"/>
          <a:stretch>
            <a:fillRect/>
          </a:stretch>
        </p:blipFill>
        <p:spPr bwMode="auto">
          <a:xfrm>
            <a:off x="0" y="4192382"/>
            <a:ext cx="5958584" cy="2665618"/>
          </a:xfrm>
          <a:prstGeom prst="rect">
            <a:avLst/>
          </a:prstGeom>
          <a:noFill/>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3DD26FAB-7E86-C92F-DC9E-46A2BDF11FAE}"/>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4217" b="12055"/>
          <a:stretch>
            <a:fillRect/>
          </a:stretch>
        </p:blipFill>
        <p:spPr bwMode="auto">
          <a:xfrm>
            <a:off x="5958584" y="3941635"/>
            <a:ext cx="6136748" cy="2916365"/>
          </a:xfrm>
          <a:prstGeom prst="rect">
            <a:avLst/>
          </a:prstGeom>
          <a:noFill/>
          <a:ln>
            <a:noFill/>
          </a:ln>
          <a:extLst>
            <a:ext uri="{53640926-AAD7-44D8-BBD7-CCE9431645EC}">
              <a14:shadowObscured xmlns:a14="http://schemas.microsoft.com/office/drawing/2010/main"/>
            </a:ext>
          </a:extLst>
        </p:spPr>
      </p:pic>
      <p:sp>
        <p:nvSpPr>
          <p:cNvPr id="13" name="Slide Number Placeholder 12">
            <a:extLst>
              <a:ext uri="{FF2B5EF4-FFF2-40B4-BE49-F238E27FC236}">
                <a16:creationId xmlns:a16="http://schemas.microsoft.com/office/drawing/2014/main" id="{27CE6C21-64F0-E407-DEE9-D8462191FED1}"/>
              </a:ext>
            </a:extLst>
          </p:cNvPr>
          <p:cNvSpPr>
            <a:spLocks noGrp="1"/>
          </p:cNvSpPr>
          <p:nvPr>
            <p:ph type="sldNum" sz="quarter" idx="12"/>
          </p:nvPr>
        </p:nvSpPr>
        <p:spPr/>
        <p:txBody>
          <a:bodyPr/>
          <a:lstStyle/>
          <a:p>
            <a:fld id="{D0063D55-1E1F-42B3-9539-F98231BC29CD}" type="slidenum">
              <a:rPr lang="en-IN" smtClean="0"/>
              <a:t>15</a:t>
            </a:fld>
            <a:endParaRPr lang="en-IN" dirty="0"/>
          </a:p>
        </p:txBody>
      </p:sp>
    </p:spTree>
    <p:extLst>
      <p:ext uri="{BB962C8B-B14F-4D97-AF65-F5344CB8AC3E}">
        <p14:creationId xmlns:p14="http://schemas.microsoft.com/office/powerpoint/2010/main" val="623255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52A2C-E207-5E33-7C0A-66F05AAB79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1A7E84-AC91-5773-422A-CE1FEAD86D60}"/>
              </a:ext>
            </a:extLst>
          </p:cNvPr>
          <p:cNvSpPr txBox="1"/>
          <p:nvPr/>
        </p:nvSpPr>
        <p:spPr>
          <a:xfrm>
            <a:off x="79513" y="228600"/>
            <a:ext cx="5150064" cy="769441"/>
          </a:xfrm>
          <a:prstGeom prst="rect">
            <a:avLst/>
          </a:prstGeom>
          <a:noFill/>
        </p:spPr>
        <p:txBody>
          <a:bodyPr wrap="none" rtlCol="0">
            <a:spAutoFit/>
          </a:bodyPr>
          <a:lstStyle/>
          <a:p>
            <a:r>
              <a:rPr lang="en-US" sz="4400" dirty="0">
                <a:latin typeface="Times New Roman" panose="02020603050405020304" pitchFamily="18" charset="0"/>
                <a:ea typeface="+mj-ea"/>
                <a:cs typeface="Times New Roman" panose="02020603050405020304" pitchFamily="18" charset="0"/>
              </a:rPr>
              <a:t>Performance Analysis</a:t>
            </a:r>
            <a:endParaRPr lang="en-IN" sz="4400" dirty="0">
              <a:latin typeface="Times New Roman" panose="02020603050405020304" pitchFamily="18" charset="0"/>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D1DD5EAF-7EFC-A463-CD1F-1522DCB34186}"/>
              </a:ext>
            </a:extLst>
          </p:cNvPr>
          <p:cNvPicPr>
            <a:picLocks noChangeAspect="1"/>
          </p:cNvPicPr>
          <p:nvPr/>
        </p:nvPicPr>
        <p:blipFill>
          <a:blip r:embed="rId3"/>
          <a:stretch>
            <a:fillRect/>
          </a:stretch>
        </p:blipFill>
        <p:spPr>
          <a:xfrm>
            <a:off x="9549114" y="228601"/>
            <a:ext cx="2000262" cy="962532"/>
          </a:xfrm>
          <a:prstGeom prst="rect">
            <a:avLst/>
          </a:prstGeom>
        </p:spPr>
      </p:pic>
      <p:pic>
        <p:nvPicPr>
          <p:cNvPr id="9" name="Picture 8">
            <a:extLst>
              <a:ext uri="{FF2B5EF4-FFF2-40B4-BE49-F238E27FC236}">
                <a16:creationId xmlns:a16="http://schemas.microsoft.com/office/drawing/2014/main" id="{325A0BEF-6500-FC44-BCE9-37859A0FBC46}"/>
              </a:ext>
            </a:extLst>
          </p:cNvPr>
          <p:cNvPicPr>
            <a:picLocks noChangeAspect="1"/>
          </p:cNvPicPr>
          <p:nvPr/>
        </p:nvPicPr>
        <p:blipFill>
          <a:blip r:embed="rId4"/>
          <a:stretch>
            <a:fillRect/>
          </a:stretch>
        </p:blipFill>
        <p:spPr>
          <a:xfrm>
            <a:off x="400126" y="1191133"/>
            <a:ext cx="5115639" cy="2476846"/>
          </a:xfrm>
          <a:prstGeom prst="rect">
            <a:avLst/>
          </a:prstGeom>
        </p:spPr>
      </p:pic>
      <p:pic>
        <p:nvPicPr>
          <p:cNvPr id="11" name="Picture 10">
            <a:extLst>
              <a:ext uri="{FF2B5EF4-FFF2-40B4-BE49-F238E27FC236}">
                <a16:creationId xmlns:a16="http://schemas.microsoft.com/office/drawing/2014/main" id="{0058C8F6-0B3E-BC10-16C6-5B62F9346C43}"/>
              </a:ext>
            </a:extLst>
          </p:cNvPr>
          <p:cNvPicPr>
            <a:picLocks noChangeAspect="1"/>
          </p:cNvPicPr>
          <p:nvPr/>
        </p:nvPicPr>
        <p:blipFill>
          <a:blip r:embed="rId5"/>
          <a:stretch>
            <a:fillRect/>
          </a:stretch>
        </p:blipFill>
        <p:spPr>
          <a:xfrm>
            <a:off x="6470193" y="1191133"/>
            <a:ext cx="4467849" cy="4210638"/>
          </a:xfrm>
          <a:prstGeom prst="rect">
            <a:avLst/>
          </a:prstGeom>
        </p:spPr>
      </p:pic>
      <p:sp>
        <p:nvSpPr>
          <p:cNvPr id="5" name="Slide Number Placeholder 4">
            <a:extLst>
              <a:ext uri="{FF2B5EF4-FFF2-40B4-BE49-F238E27FC236}">
                <a16:creationId xmlns:a16="http://schemas.microsoft.com/office/drawing/2014/main" id="{F7AADDC3-C8F0-673F-CEF0-3DF4C24E65FA}"/>
              </a:ext>
            </a:extLst>
          </p:cNvPr>
          <p:cNvSpPr>
            <a:spLocks noGrp="1"/>
          </p:cNvSpPr>
          <p:nvPr>
            <p:ph type="sldNum" sz="quarter" idx="12"/>
          </p:nvPr>
        </p:nvSpPr>
        <p:spPr/>
        <p:txBody>
          <a:bodyPr/>
          <a:lstStyle/>
          <a:p>
            <a:fld id="{D0063D55-1E1F-42B3-9539-F98231BC29CD}" type="slidenum">
              <a:rPr lang="en-IN" smtClean="0"/>
              <a:t>16</a:t>
            </a:fld>
            <a:endParaRPr lang="en-IN" dirty="0"/>
          </a:p>
        </p:txBody>
      </p:sp>
    </p:spTree>
    <p:extLst>
      <p:ext uri="{BB962C8B-B14F-4D97-AF65-F5344CB8AC3E}">
        <p14:creationId xmlns:p14="http://schemas.microsoft.com/office/powerpoint/2010/main" val="3093544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C3A8-6CEE-D66E-E3D9-58D2E160C2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1EEE77-1D9A-61E0-995C-4E76B118FB5E}"/>
              </a:ext>
            </a:extLst>
          </p:cNvPr>
          <p:cNvSpPr txBox="1"/>
          <p:nvPr/>
        </p:nvSpPr>
        <p:spPr>
          <a:xfrm>
            <a:off x="79513" y="228600"/>
            <a:ext cx="1846980" cy="769441"/>
          </a:xfrm>
          <a:prstGeom prst="rect">
            <a:avLst/>
          </a:prstGeom>
          <a:noFill/>
        </p:spPr>
        <p:txBody>
          <a:bodyPr wrap="none" rtlCol="0">
            <a:spAutoFit/>
          </a:bodyPr>
          <a:lstStyle/>
          <a:p>
            <a:r>
              <a:rPr lang="en-US" sz="4400" dirty="0">
                <a:latin typeface="Times New Roman" panose="02020603050405020304" pitchFamily="18" charset="0"/>
                <a:ea typeface="+mj-ea"/>
                <a:cs typeface="Times New Roman" panose="02020603050405020304" pitchFamily="18" charset="0"/>
              </a:rPr>
              <a:t>Results</a:t>
            </a:r>
            <a:endParaRPr lang="en-IN" sz="4400" dirty="0">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8C19C54D-DAF3-69C6-19DC-5A98845396AA}"/>
              </a:ext>
            </a:extLst>
          </p:cNvPr>
          <p:cNvSpPr txBox="1"/>
          <p:nvPr/>
        </p:nvSpPr>
        <p:spPr>
          <a:xfrm>
            <a:off x="156401" y="1179615"/>
            <a:ext cx="11369041" cy="1692771"/>
          </a:xfrm>
          <a:prstGeom prst="rect">
            <a:avLst/>
          </a:prstGeom>
          <a:noFill/>
        </p:spPr>
        <p:txBody>
          <a:bodyPr wrap="square" rtlCol="0">
            <a:spAutoFit/>
          </a:bodyPr>
          <a:lstStyle/>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Accuracy achieved: 84–86%</a:t>
            </a:r>
          </a:p>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Faster response time (&lt;2 seconds)</a:t>
            </a:r>
          </a:p>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Good precision, recall, and F1-score</a:t>
            </a:r>
          </a:p>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Hybrid model outperforms others</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517C5B4-6A4E-78B9-95A2-754CA0207F37}"/>
              </a:ext>
            </a:extLst>
          </p:cNvPr>
          <p:cNvPicPr>
            <a:picLocks noChangeAspect="1"/>
          </p:cNvPicPr>
          <p:nvPr/>
        </p:nvPicPr>
        <p:blipFill>
          <a:blip r:embed="rId2"/>
          <a:stretch>
            <a:fillRect/>
          </a:stretch>
        </p:blipFill>
        <p:spPr>
          <a:xfrm>
            <a:off x="9549114" y="228600"/>
            <a:ext cx="1976328" cy="951015"/>
          </a:xfrm>
          <a:prstGeom prst="rect">
            <a:avLst/>
          </a:prstGeom>
        </p:spPr>
      </p:pic>
      <p:sp>
        <p:nvSpPr>
          <p:cNvPr id="7" name="TextBox 6">
            <a:extLst>
              <a:ext uri="{FF2B5EF4-FFF2-40B4-BE49-F238E27FC236}">
                <a16:creationId xmlns:a16="http://schemas.microsoft.com/office/drawing/2014/main" id="{F1A7C9CD-610E-A09F-8F96-11181CF92BFF}"/>
              </a:ext>
            </a:extLst>
          </p:cNvPr>
          <p:cNvSpPr txBox="1"/>
          <p:nvPr/>
        </p:nvSpPr>
        <p:spPr>
          <a:xfrm>
            <a:off x="156401" y="3429000"/>
            <a:ext cx="251170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Findings</a:t>
            </a:r>
            <a:endParaRPr lang="en-IN" sz="3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989E135-33F1-B6F9-409C-BCF5805799FD}"/>
              </a:ext>
            </a:extLst>
          </p:cNvPr>
          <p:cNvSpPr txBox="1"/>
          <p:nvPr/>
        </p:nvSpPr>
        <p:spPr>
          <a:xfrm>
            <a:off x="312516" y="4328932"/>
            <a:ext cx="4722471" cy="2492990"/>
          </a:xfrm>
          <a:prstGeom prst="rect">
            <a:avLst/>
          </a:prstGeom>
          <a:noFill/>
        </p:spPr>
        <p:txBody>
          <a:bodyPr wrap="square" rtlCol="0">
            <a:spAutoFit/>
          </a:bodyPr>
          <a:lstStyle/>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Stress is the strongest predictor.</a:t>
            </a:r>
          </a:p>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Mood swings increase vulnerability.</a:t>
            </a:r>
          </a:p>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Work interest reduces risk.</a:t>
            </a:r>
          </a:p>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Social connection acts as protection</a:t>
            </a:r>
            <a:endParaRPr lang="en-IN" sz="2600"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49546587-E60A-7213-8FA9-BA0C3016874F}"/>
              </a:ext>
            </a:extLst>
          </p:cNvPr>
          <p:cNvSpPr>
            <a:spLocks noGrp="1"/>
          </p:cNvSpPr>
          <p:nvPr>
            <p:ph type="sldNum" sz="quarter" idx="12"/>
          </p:nvPr>
        </p:nvSpPr>
        <p:spPr/>
        <p:txBody>
          <a:bodyPr/>
          <a:lstStyle/>
          <a:p>
            <a:fld id="{D0063D55-1E1F-42B3-9539-F98231BC29CD}" type="slidenum">
              <a:rPr lang="en-IN" smtClean="0"/>
              <a:t>17</a:t>
            </a:fld>
            <a:endParaRPr lang="en-IN" dirty="0"/>
          </a:p>
        </p:txBody>
      </p:sp>
    </p:spTree>
    <p:extLst>
      <p:ext uri="{BB962C8B-B14F-4D97-AF65-F5344CB8AC3E}">
        <p14:creationId xmlns:p14="http://schemas.microsoft.com/office/powerpoint/2010/main" val="313348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7A5F0-354F-4878-3CFB-1EB61D272B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D74B0D-B40E-6A0B-D013-7B6E63FFCD56}"/>
              </a:ext>
            </a:extLst>
          </p:cNvPr>
          <p:cNvSpPr txBox="1"/>
          <p:nvPr/>
        </p:nvSpPr>
        <p:spPr>
          <a:xfrm>
            <a:off x="79513" y="228600"/>
            <a:ext cx="5440015" cy="769441"/>
          </a:xfrm>
          <a:prstGeom prst="rect">
            <a:avLst/>
          </a:prstGeom>
          <a:noFill/>
        </p:spPr>
        <p:txBody>
          <a:bodyPr wrap="none" rtlCol="0">
            <a:spAutoFit/>
          </a:bodyPr>
          <a:lstStyle/>
          <a:p>
            <a:r>
              <a:rPr lang="en-IN" sz="4400" dirty="0"/>
              <a:t>Tools and Technologies</a:t>
            </a:r>
            <a:endParaRPr lang="en-IN" sz="4400" dirty="0">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C73E70AC-BAF0-EDD4-56EE-B177EAE4E064}"/>
              </a:ext>
            </a:extLst>
          </p:cNvPr>
          <p:cNvSpPr txBox="1"/>
          <p:nvPr/>
        </p:nvSpPr>
        <p:spPr>
          <a:xfrm>
            <a:off x="567158" y="2095018"/>
            <a:ext cx="11468441" cy="3693319"/>
          </a:xfrm>
          <a:prstGeom prst="rect">
            <a:avLst/>
          </a:prstGeom>
          <a:noFill/>
        </p:spPr>
        <p:txBody>
          <a:bodyPr wrap="square" rtlCol="0">
            <a:spAutoFit/>
          </a:bodyPr>
          <a:lstStyle/>
          <a:p>
            <a:pPr marL="457200" indent="-457200">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Machine Learning &amp; Deep Learning: </a:t>
            </a:r>
          </a:p>
          <a:p>
            <a:r>
              <a:rPr lang="en-IN" sz="2600" b="1" dirty="0">
                <a:latin typeface="Times New Roman" panose="02020603050405020304" pitchFamily="18" charset="0"/>
                <a:cs typeface="Times New Roman" panose="02020603050405020304" pitchFamily="18" charset="0"/>
              </a:rPr>
              <a:t>                 Scikit-learn </a:t>
            </a:r>
            <a:r>
              <a:rPr lang="en-IN" sz="2600" dirty="0">
                <a:latin typeface="Times New Roman" panose="02020603050405020304" pitchFamily="18" charset="0"/>
                <a:cs typeface="Times New Roman" panose="02020603050405020304" pitchFamily="18" charset="0"/>
              </a:rPr>
              <a:t>— ML model development ( </a:t>
            </a:r>
            <a:r>
              <a:rPr lang="en-IN" sz="2600" dirty="0" err="1">
                <a:latin typeface="Times New Roman" panose="02020603050405020304" pitchFamily="18" charset="0"/>
                <a:cs typeface="Times New Roman" panose="02020603050405020304" pitchFamily="18" charset="0"/>
              </a:rPr>
              <a:t>XGBoost</a:t>
            </a:r>
            <a:r>
              <a:rPr lang="en-IN" sz="2600" dirty="0">
                <a:latin typeface="Times New Roman" panose="02020603050405020304" pitchFamily="18" charset="0"/>
                <a:cs typeface="Times New Roman" panose="02020603050405020304" pitchFamily="18" charset="0"/>
              </a:rPr>
              <a:t>, Light GBM etc.,) </a:t>
            </a:r>
          </a:p>
          <a:p>
            <a:pPr marL="457200" indent="-457200">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Deep Autoencoder - </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behavioral</a:t>
            </a:r>
            <a:r>
              <a:rPr lang="en-IN" sz="2600" dirty="0">
                <a:latin typeface="Times New Roman" panose="02020603050405020304" pitchFamily="18" charset="0"/>
                <a:cs typeface="Times New Roman" panose="02020603050405020304" pitchFamily="18" charset="0"/>
              </a:rPr>
              <a:t> representation learning</a:t>
            </a:r>
          </a:p>
          <a:p>
            <a:pPr marL="457200" indent="-457200">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SHAP / LIME </a:t>
            </a:r>
            <a:r>
              <a:rPr lang="en-IN" sz="2600" dirty="0">
                <a:latin typeface="Times New Roman" panose="02020603050405020304" pitchFamily="18" charset="0"/>
                <a:cs typeface="Times New Roman" panose="02020603050405020304" pitchFamily="18" charset="0"/>
              </a:rPr>
              <a:t>— Explainable AI for feature importance and interpretation</a:t>
            </a:r>
          </a:p>
          <a:p>
            <a:pPr marL="457200" indent="-457200">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Data Handling &amp; Processing: </a:t>
            </a:r>
            <a:r>
              <a:rPr lang="en-IN" sz="2600" dirty="0">
                <a:latin typeface="Times New Roman" panose="02020603050405020304" pitchFamily="18" charset="0"/>
                <a:cs typeface="Times New Roman" panose="02020603050405020304" pitchFamily="18" charset="0"/>
              </a:rPr>
              <a:t>Pandas, NumPy</a:t>
            </a:r>
          </a:p>
          <a:p>
            <a:pPr marL="457200" indent="-457200">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Data Visualization: </a:t>
            </a:r>
            <a:r>
              <a:rPr lang="en-IN" sz="2600" dirty="0">
                <a:latin typeface="Times New Roman" panose="02020603050405020304" pitchFamily="18" charset="0"/>
                <a:cs typeface="Times New Roman" panose="02020603050405020304" pitchFamily="18" charset="0"/>
              </a:rPr>
              <a:t>Matplotlib, Seaborn</a:t>
            </a:r>
          </a:p>
          <a:p>
            <a:pPr marL="457200" indent="-457200">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Deployment &amp; Frontend: </a:t>
            </a:r>
            <a:r>
              <a:rPr lang="en-IN" sz="2600" dirty="0">
                <a:latin typeface="Times New Roman" panose="02020603050405020304" pitchFamily="18" charset="0"/>
                <a:cs typeface="Times New Roman" panose="02020603050405020304" pitchFamily="18" charset="0"/>
              </a:rPr>
              <a:t>Flask / Django, HTML, CSS, JavaScript, Web interface for user interaction</a:t>
            </a:r>
          </a:p>
          <a:p>
            <a:pPr marL="457200" indent="-457200">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Database: </a:t>
            </a:r>
            <a:r>
              <a:rPr lang="en-IN" sz="2600" dirty="0">
                <a:latin typeface="Times New Roman" panose="02020603050405020304" pitchFamily="18" charset="0"/>
                <a:cs typeface="Times New Roman" panose="02020603050405020304" pitchFamily="18" charset="0"/>
              </a:rPr>
              <a:t>SQLite </a:t>
            </a:r>
          </a:p>
        </p:txBody>
      </p:sp>
      <p:pic>
        <p:nvPicPr>
          <p:cNvPr id="5" name="Picture 4">
            <a:extLst>
              <a:ext uri="{FF2B5EF4-FFF2-40B4-BE49-F238E27FC236}">
                <a16:creationId xmlns:a16="http://schemas.microsoft.com/office/drawing/2014/main" id="{33AF2F55-A01B-9B1B-367F-8E38F733A898}"/>
              </a:ext>
            </a:extLst>
          </p:cNvPr>
          <p:cNvPicPr>
            <a:picLocks noChangeAspect="1"/>
          </p:cNvPicPr>
          <p:nvPr/>
        </p:nvPicPr>
        <p:blipFill>
          <a:blip r:embed="rId2"/>
          <a:stretch>
            <a:fillRect/>
          </a:stretch>
        </p:blipFill>
        <p:spPr>
          <a:xfrm>
            <a:off x="9549114" y="228600"/>
            <a:ext cx="1976328" cy="951015"/>
          </a:xfrm>
          <a:prstGeom prst="rect">
            <a:avLst/>
          </a:prstGeom>
        </p:spPr>
      </p:pic>
      <p:sp>
        <p:nvSpPr>
          <p:cNvPr id="3" name="Slide Number Placeholder 2">
            <a:extLst>
              <a:ext uri="{FF2B5EF4-FFF2-40B4-BE49-F238E27FC236}">
                <a16:creationId xmlns:a16="http://schemas.microsoft.com/office/drawing/2014/main" id="{C1F7A809-E4BD-5629-F965-65499534048A}"/>
              </a:ext>
            </a:extLst>
          </p:cNvPr>
          <p:cNvSpPr>
            <a:spLocks noGrp="1"/>
          </p:cNvSpPr>
          <p:nvPr>
            <p:ph type="sldNum" sz="quarter" idx="12"/>
          </p:nvPr>
        </p:nvSpPr>
        <p:spPr/>
        <p:txBody>
          <a:bodyPr/>
          <a:lstStyle/>
          <a:p>
            <a:fld id="{D0063D55-1E1F-42B3-9539-F98231BC29CD}" type="slidenum">
              <a:rPr lang="en-IN" smtClean="0"/>
              <a:t>18</a:t>
            </a:fld>
            <a:endParaRPr lang="en-IN" dirty="0"/>
          </a:p>
        </p:txBody>
      </p:sp>
    </p:spTree>
    <p:extLst>
      <p:ext uri="{BB962C8B-B14F-4D97-AF65-F5344CB8AC3E}">
        <p14:creationId xmlns:p14="http://schemas.microsoft.com/office/powerpoint/2010/main" val="823247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BBC0-3641-10A0-681A-CF6D5E5D23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76E891-EC51-CCF6-E45C-D955C68D7ED5}"/>
              </a:ext>
            </a:extLst>
          </p:cNvPr>
          <p:cNvSpPr txBox="1"/>
          <p:nvPr/>
        </p:nvSpPr>
        <p:spPr>
          <a:xfrm>
            <a:off x="79513" y="228600"/>
            <a:ext cx="4277133" cy="769441"/>
          </a:xfrm>
          <a:prstGeom prst="rect">
            <a:avLst/>
          </a:prstGeom>
          <a:noFill/>
        </p:spPr>
        <p:txBody>
          <a:bodyPr wrap="none" rtlCol="0">
            <a:spAutoFit/>
          </a:bodyPr>
          <a:lstStyle/>
          <a:p>
            <a:r>
              <a:rPr lang="en-IN" sz="4400" dirty="0">
                <a:latin typeface="Times New Roman" panose="02020603050405020304" pitchFamily="18" charset="0"/>
                <a:cs typeface="Times New Roman" panose="02020603050405020304" pitchFamily="18" charset="0"/>
              </a:rPr>
              <a:t>FUTURE SCOPE</a:t>
            </a:r>
            <a:endParaRPr lang="en-IN" sz="4400" dirty="0">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2CEA84C1-3635-310E-DB96-403BF7222520}"/>
              </a:ext>
            </a:extLst>
          </p:cNvPr>
          <p:cNvSpPr txBox="1"/>
          <p:nvPr/>
        </p:nvSpPr>
        <p:spPr>
          <a:xfrm>
            <a:off x="312516" y="1178540"/>
            <a:ext cx="11049515" cy="2092881"/>
          </a:xfrm>
          <a:prstGeom prst="rect">
            <a:avLst/>
          </a:prstGeom>
          <a:noFill/>
        </p:spPr>
        <p:txBody>
          <a:bodyPr wrap="square" rtlCol="0">
            <a:spAutoFit/>
          </a:bodyPr>
          <a:lstStyle/>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Track mental health over time</a:t>
            </a:r>
          </a:p>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Mobile application</a:t>
            </a:r>
          </a:p>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Multi-language support</a:t>
            </a:r>
          </a:p>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Wearable data integration</a:t>
            </a:r>
          </a:p>
          <a:p>
            <a:pPr marL="457200" indent="-45720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Clinical system integration</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227F3D2-CA49-C28E-12E2-CB75A45EDE61}"/>
              </a:ext>
            </a:extLst>
          </p:cNvPr>
          <p:cNvPicPr>
            <a:picLocks noChangeAspect="1"/>
          </p:cNvPicPr>
          <p:nvPr/>
        </p:nvPicPr>
        <p:blipFill>
          <a:blip r:embed="rId2"/>
          <a:stretch>
            <a:fillRect/>
          </a:stretch>
        </p:blipFill>
        <p:spPr>
          <a:xfrm>
            <a:off x="9549114" y="228600"/>
            <a:ext cx="1976328" cy="951015"/>
          </a:xfrm>
          <a:prstGeom prst="rect">
            <a:avLst/>
          </a:prstGeom>
        </p:spPr>
      </p:pic>
      <p:sp>
        <p:nvSpPr>
          <p:cNvPr id="7" name="TextBox 6">
            <a:extLst>
              <a:ext uri="{FF2B5EF4-FFF2-40B4-BE49-F238E27FC236}">
                <a16:creationId xmlns:a16="http://schemas.microsoft.com/office/drawing/2014/main" id="{489B13FC-7726-3A38-F2D5-0FF1A7B218C4}"/>
              </a:ext>
            </a:extLst>
          </p:cNvPr>
          <p:cNvSpPr txBox="1"/>
          <p:nvPr/>
        </p:nvSpPr>
        <p:spPr>
          <a:xfrm>
            <a:off x="156401" y="3429000"/>
            <a:ext cx="4878586"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EXPECTED IMPACT</a:t>
            </a:r>
          </a:p>
        </p:txBody>
      </p:sp>
      <p:sp>
        <p:nvSpPr>
          <p:cNvPr id="8" name="TextBox 7">
            <a:extLst>
              <a:ext uri="{FF2B5EF4-FFF2-40B4-BE49-F238E27FC236}">
                <a16:creationId xmlns:a16="http://schemas.microsoft.com/office/drawing/2014/main" id="{884B66F5-7DD1-B59C-F132-6FF35CE8078A}"/>
              </a:ext>
            </a:extLst>
          </p:cNvPr>
          <p:cNvSpPr txBox="1"/>
          <p:nvPr/>
        </p:nvSpPr>
        <p:spPr>
          <a:xfrm>
            <a:off x="312516" y="4328932"/>
            <a:ext cx="4722471" cy="2092881"/>
          </a:xfrm>
          <a:prstGeom prst="rect">
            <a:avLst/>
          </a:prstGeom>
          <a:noFill/>
        </p:spPr>
        <p:txBody>
          <a:bodyPr wrap="square" rtlCol="0">
            <a:spAutoFit/>
          </a:bodyPr>
          <a:lstStyle/>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Early intervention for more people</a:t>
            </a:r>
          </a:p>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Reduced healthcare costs</a:t>
            </a:r>
          </a:p>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Better mental health awareness</a:t>
            </a:r>
          </a:p>
          <a:p>
            <a:pPr marL="285750" indent="-285750">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Supports preventive healthcare</a:t>
            </a:r>
            <a:endParaRPr lang="en-IN" sz="26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607E0060-E883-8AA9-D2FB-3A4376D997C7}"/>
              </a:ext>
            </a:extLst>
          </p:cNvPr>
          <p:cNvSpPr>
            <a:spLocks noGrp="1"/>
          </p:cNvSpPr>
          <p:nvPr>
            <p:ph type="sldNum" sz="quarter" idx="12"/>
          </p:nvPr>
        </p:nvSpPr>
        <p:spPr/>
        <p:txBody>
          <a:bodyPr/>
          <a:lstStyle/>
          <a:p>
            <a:fld id="{D0063D55-1E1F-42B3-9539-F98231BC29CD}" type="slidenum">
              <a:rPr lang="en-IN" smtClean="0"/>
              <a:t>19</a:t>
            </a:fld>
            <a:endParaRPr lang="en-IN" dirty="0"/>
          </a:p>
        </p:txBody>
      </p:sp>
    </p:spTree>
    <p:extLst>
      <p:ext uri="{BB962C8B-B14F-4D97-AF65-F5344CB8AC3E}">
        <p14:creationId xmlns:p14="http://schemas.microsoft.com/office/powerpoint/2010/main" val="1443632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4E4AC-40D6-1CAD-75F0-9EE38F0D29C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A621AF-5BD5-C081-A794-2AE5E3F945BC}"/>
              </a:ext>
            </a:extLst>
          </p:cNvPr>
          <p:cNvSpPr txBox="1"/>
          <p:nvPr/>
        </p:nvSpPr>
        <p:spPr>
          <a:xfrm>
            <a:off x="555585" y="625033"/>
            <a:ext cx="4259483"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CONCLUSION</a:t>
            </a:r>
            <a:endParaRPr lang="en-IN" sz="4400" dirty="0">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FF5B68D9-4D47-1F1B-580F-8A16ED6DA79A}"/>
              </a:ext>
            </a:extLst>
          </p:cNvPr>
          <p:cNvSpPr txBox="1"/>
          <p:nvPr/>
        </p:nvSpPr>
        <p:spPr>
          <a:xfrm>
            <a:off x="272143" y="2609128"/>
            <a:ext cx="11430000" cy="2462213"/>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This project successfully presents a hybrid machine learning system to predict mental health vulnerabilities using behavioral and demographic data. By combining an autoencoder for feature extraction, </a:t>
            </a:r>
            <a:r>
              <a:rPr lang="en-US" sz="2200" dirty="0" err="1">
                <a:latin typeface="Times New Roman" panose="02020603050405020304" pitchFamily="18" charset="0"/>
                <a:cs typeface="Times New Roman" panose="02020603050405020304" pitchFamily="18" charset="0"/>
              </a:rPr>
              <a:t>XGBoost</a:t>
            </a:r>
            <a:r>
              <a:rPr lang="en-US" sz="2200" dirty="0">
                <a:latin typeface="Times New Roman" panose="02020603050405020304" pitchFamily="18" charset="0"/>
                <a:cs typeface="Times New Roman" panose="02020603050405020304" pitchFamily="18" charset="0"/>
              </a:rPr>
              <a:t> for classification, and SHAP for explainability, the model achieves reliable accuracy while remaining transparent and user-friendly. The web-based, privacy-preserving design enables early risk identification and supports a shift from reactive to preventive mental healthcare. Overall, the system demonstrates strong potential as an accessible screening tool that can aid individuals, institutions, and healthcare systems in promoting early mental health intervention.</a:t>
            </a: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C0CBD4F-5969-2C57-B51D-1D069FB2D54D}"/>
              </a:ext>
            </a:extLst>
          </p:cNvPr>
          <p:cNvPicPr>
            <a:picLocks noChangeAspect="1"/>
          </p:cNvPicPr>
          <p:nvPr/>
        </p:nvPicPr>
        <p:blipFill>
          <a:blip r:embed="rId2"/>
          <a:stretch>
            <a:fillRect/>
          </a:stretch>
        </p:blipFill>
        <p:spPr>
          <a:xfrm>
            <a:off x="9549114" y="228600"/>
            <a:ext cx="1976328" cy="951015"/>
          </a:xfrm>
          <a:prstGeom prst="rect">
            <a:avLst/>
          </a:prstGeom>
        </p:spPr>
      </p:pic>
      <p:sp>
        <p:nvSpPr>
          <p:cNvPr id="6" name="Slide Number Placeholder 5">
            <a:extLst>
              <a:ext uri="{FF2B5EF4-FFF2-40B4-BE49-F238E27FC236}">
                <a16:creationId xmlns:a16="http://schemas.microsoft.com/office/drawing/2014/main" id="{FB21DA85-04BB-4285-D4FB-E985634188F2}"/>
              </a:ext>
            </a:extLst>
          </p:cNvPr>
          <p:cNvSpPr>
            <a:spLocks noGrp="1"/>
          </p:cNvSpPr>
          <p:nvPr>
            <p:ph type="sldNum" sz="quarter" idx="12"/>
          </p:nvPr>
        </p:nvSpPr>
        <p:spPr/>
        <p:txBody>
          <a:bodyPr/>
          <a:lstStyle/>
          <a:p>
            <a:fld id="{D0063D55-1E1F-42B3-9539-F98231BC29CD}" type="slidenum">
              <a:rPr lang="en-IN" smtClean="0"/>
              <a:t>20</a:t>
            </a:fld>
            <a:endParaRPr lang="en-IN" dirty="0"/>
          </a:p>
        </p:txBody>
      </p:sp>
    </p:spTree>
    <p:extLst>
      <p:ext uri="{BB962C8B-B14F-4D97-AF65-F5344CB8AC3E}">
        <p14:creationId xmlns:p14="http://schemas.microsoft.com/office/powerpoint/2010/main" val="210304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3D87-5438-8034-4D5F-F7F7A90077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23A636-70BB-E326-2468-1CDAE9D98258}"/>
              </a:ext>
            </a:extLst>
          </p:cNvPr>
          <p:cNvSpPr txBox="1"/>
          <p:nvPr/>
        </p:nvSpPr>
        <p:spPr>
          <a:xfrm>
            <a:off x="555585" y="625033"/>
            <a:ext cx="4259483" cy="769441"/>
          </a:xfrm>
          <a:prstGeom prst="rect">
            <a:avLst/>
          </a:prstGeom>
          <a:noFill/>
        </p:spPr>
        <p:txBody>
          <a:bodyPr wrap="square" rtlCol="0">
            <a:spAutoFit/>
          </a:bodyPr>
          <a:lstStyle/>
          <a:p>
            <a:r>
              <a:rPr lang="en-US" sz="4400" dirty="0">
                <a:latin typeface="Times New Roman" panose="02020603050405020304" pitchFamily="18" charset="0"/>
                <a:ea typeface="+mj-ea"/>
                <a:cs typeface="Times New Roman" panose="02020603050405020304" pitchFamily="18" charset="0"/>
              </a:rPr>
              <a:t>References</a:t>
            </a:r>
            <a:endParaRPr lang="en-IN" sz="4400" dirty="0">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4E79E853-F9FB-920A-C06F-0294DCFAF41C}"/>
              </a:ext>
            </a:extLst>
          </p:cNvPr>
          <p:cNvSpPr txBox="1"/>
          <p:nvPr/>
        </p:nvSpPr>
        <p:spPr>
          <a:xfrm>
            <a:off x="393539" y="1394475"/>
            <a:ext cx="10968492" cy="590931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[1] "Machine learning approaches to anxiety detection: trends, model evaluation, and future directions," Frontiers in Artificial Intelligence, vol. 8, p. 1630047, 2025.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10.3389/frai.2025.1630047 [Online].  https://pmc.ncbi.nlm.nih.gov/articles/PMC12582962/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"A Hybrid Approach to Attention Deficit Hyperactivity Disorder Detection Leveraging Transformer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Models Using </a:t>
            </a:r>
            <a:r>
              <a:rPr lang="en-US" dirty="0" err="1">
                <a:latin typeface="Times New Roman" panose="02020603050405020304" pitchFamily="18" charset="0"/>
                <a:cs typeface="Times New Roman" panose="02020603050405020304" pitchFamily="18" charset="0"/>
              </a:rPr>
              <a:t>XSparseFormerNet</a:t>
            </a:r>
            <a:r>
              <a:rPr lang="en-US" dirty="0">
                <a:latin typeface="Times New Roman" panose="02020603050405020304" pitchFamily="18" charset="0"/>
                <a:cs typeface="Times New Roman" panose="02020603050405020304" pitchFamily="18" charset="0"/>
              </a:rPr>
              <a:t>," Scientific Reports, vol. 15, p. 41039, 2025.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10.1038/s41598-025-24919-3 [Online].  </a:t>
            </a:r>
            <a:r>
              <a:rPr lang="en-US" u="sng" dirty="0">
                <a:latin typeface="Times New Roman" panose="02020603050405020304" pitchFamily="18" charset="0"/>
                <a:cs typeface="Times New Roman" panose="02020603050405020304" pitchFamily="18" charset="0"/>
                <a:hlinkClick r:id="rId2"/>
              </a:rPr>
              <a:t>https://www.nature.com/articles/s41598-025-24919-3</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 "Explainable artificial intelligence approaches for predicting depression by combining feature selection methods and machine learning classifiers," Digital Health, vol. 12, 2026.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10.1177/20552076251411968 [Online].  </a:t>
            </a:r>
            <a:r>
              <a:rPr lang="en-US" u="sng" dirty="0">
                <a:latin typeface="Times New Roman" panose="02020603050405020304" pitchFamily="18" charset="0"/>
                <a:cs typeface="Times New Roman" panose="02020603050405020304" pitchFamily="18" charset="0"/>
                <a:hlinkClick r:id="rId3"/>
              </a:rPr>
              <a:t>https://pmc.ncbi.nlm.nih.gov/articles/PMC12819984/</a:t>
            </a:r>
            <a:r>
              <a:rPr lang="en-US"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[4] Priyanka, S. Nagpal, and S. Sabharwal, "MH-XAI: Hybrid Deep Learning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Explainable AI Model for Mental Health Prediction," Concurrency and Computation: Practice and Experience, 2026.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10.1002/cpe.70634 [Online].  </a:t>
            </a:r>
            <a:r>
              <a:rPr lang="en-US" u="sng" dirty="0">
                <a:latin typeface="Times New Roman" panose="02020603050405020304" pitchFamily="18" charset="0"/>
                <a:cs typeface="Times New Roman" panose="02020603050405020304" pitchFamily="18" charset="0"/>
                <a:hlinkClick r:id="rId4"/>
              </a:rPr>
              <a:t>https://onlinelibrary.wiley.com/doi/10.1002/cpe.70634</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[5] P. Baldi, "Autoencoders, unsupervised learning, and deep architectures," in Proceedings of ICML Workshop on Unsupervised and Transfer Learning, 2012. [Online].  </a:t>
            </a:r>
            <a:r>
              <a:rPr lang="en-US" u="sng" dirty="0">
                <a:latin typeface="Times New Roman" panose="02020603050405020304" pitchFamily="18" charset="0"/>
                <a:cs typeface="Times New Roman" panose="02020603050405020304" pitchFamily="18" charset="0"/>
                <a:hlinkClick r:id="rId5"/>
              </a:rPr>
              <a:t>http://proceedings.mlr.press/v27/baldi12a.html</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54E97B4-F1CF-0C93-CC8F-11C599FF514B}"/>
              </a:ext>
            </a:extLst>
          </p:cNvPr>
          <p:cNvPicPr>
            <a:picLocks noChangeAspect="1"/>
          </p:cNvPicPr>
          <p:nvPr/>
        </p:nvPicPr>
        <p:blipFill>
          <a:blip r:embed="rId6"/>
          <a:stretch>
            <a:fillRect/>
          </a:stretch>
        </p:blipFill>
        <p:spPr>
          <a:xfrm>
            <a:off x="9549114" y="228600"/>
            <a:ext cx="1976328" cy="951015"/>
          </a:xfrm>
          <a:prstGeom prst="rect">
            <a:avLst/>
          </a:prstGeom>
        </p:spPr>
      </p:pic>
      <p:sp>
        <p:nvSpPr>
          <p:cNvPr id="3" name="Slide Number Placeholder 2">
            <a:extLst>
              <a:ext uri="{FF2B5EF4-FFF2-40B4-BE49-F238E27FC236}">
                <a16:creationId xmlns:a16="http://schemas.microsoft.com/office/drawing/2014/main" id="{3FBC1C5F-11A8-6662-15FC-80089981EB2B}"/>
              </a:ext>
            </a:extLst>
          </p:cNvPr>
          <p:cNvSpPr>
            <a:spLocks noGrp="1"/>
          </p:cNvSpPr>
          <p:nvPr>
            <p:ph type="sldNum" sz="quarter" idx="12"/>
          </p:nvPr>
        </p:nvSpPr>
        <p:spPr/>
        <p:txBody>
          <a:bodyPr/>
          <a:lstStyle/>
          <a:p>
            <a:fld id="{D0063D55-1E1F-42B3-9539-F98231BC29CD}" type="slidenum">
              <a:rPr lang="en-IN" smtClean="0"/>
              <a:t>21</a:t>
            </a:fld>
            <a:endParaRPr lang="en-IN" dirty="0"/>
          </a:p>
        </p:txBody>
      </p:sp>
    </p:spTree>
    <p:extLst>
      <p:ext uri="{BB962C8B-B14F-4D97-AF65-F5344CB8AC3E}">
        <p14:creationId xmlns:p14="http://schemas.microsoft.com/office/powerpoint/2010/main" val="4254530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95A3D-331C-5CFD-77D9-565E14128F2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B692B0-8875-B5F8-B7EB-E1CF0E2A124E}"/>
              </a:ext>
            </a:extLst>
          </p:cNvPr>
          <p:cNvSpPr txBox="1"/>
          <p:nvPr/>
        </p:nvSpPr>
        <p:spPr>
          <a:xfrm>
            <a:off x="555585" y="625033"/>
            <a:ext cx="4259483" cy="1446550"/>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References</a:t>
            </a:r>
            <a:endParaRPr lang="en-IN" sz="4400" dirty="0">
              <a:latin typeface="Times New Roman" panose="02020603050405020304" pitchFamily="18" charset="0"/>
              <a:cs typeface="Times New Roman" panose="02020603050405020304" pitchFamily="18" charset="0"/>
            </a:endParaRPr>
          </a:p>
          <a:p>
            <a:endParaRPr lang="en-IN" sz="4400" dirty="0">
              <a:latin typeface="Times New Roman" panose="02020603050405020304" pitchFamily="18" charset="0"/>
              <a:ea typeface="+mj-ea"/>
              <a:cs typeface="Times New Roman" panose="02020603050405020304" pitchFamily="18" charset="0"/>
            </a:endParaRPr>
          </a:p>
        </p:txBody>
      </p:sp>
      <p:sp>
        <p:nvSpPr>
          <p:cNvPr id="2" name="TextBox 1">
            <a:extLst>
              <a:ext uri="{FF2B5EF4-FFF2-40B4-BE49-F238E27FC236}">
                <a16:creationId xmlns:a16="http://schemas.microsoft.com/office/drawing/2014/main" id="{ABB5EE74-9497-EC79-E7F2-BB9A26E87C62}"/>
              </a:ext>
            </a:extLst>
          </p:cNvPr>
          <p:cNvSpPr txBox="1"/>
          <p:nvPr/>
        </p:nvSpPr>
        <p:spPr>
          <a:xfrm>
            <a:off x="370390" y="1562583"/>
            <a:ext cx="10991641" cy="60324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[6] A. Esteva et al., "Deep learning-enabled medical computer vision," </a:t>
            </a:r>
            <a:r>
              <a:rPr lang="en-US" dirty="0" err="1">
                <a:latin typeface="Times New Roman" panose="02020603050405020304" pitchFamily="18" charset="0"/>
                <a:cs typeface="Times New Roman" panose="02020603050405020304" pitchFamily="18" charset="0"/>
              </a:rPr>
              <a:t>npj</a:t>
            </a:r>
            <a:r>
              <a:rPr lang="en-US" dirty="0">
                <a:latin typeface="Times New Roman" panose="02020603050405020304" pitchFamily="18" charset="0"/>
                <a:cs typeface="Times New Roman" panose="02020603050405020304" pitchFamily="18" charset="0"/>
              </a:rPr>
              <a:t> Digital Medicine, vol. 2, no. 1, pp. 1-8, 2019. [Online].   </a:t>
            </a:r>
            <a:r>
              <a:rPr lang="en-US" u="sng" dirty="0">
                <a:latin typeface="Times New Roman" panose="02020603050405020304" pitchFamily="18" charset="0"/>
                <a:cs typeface="Times New Roman" panose="02020603050405020304" pitchFamily="18" charset="0"/>
                <a:hlinkClick r:id="rId2"/>
              </a:rPr>
              <a:t>https://www.nature.com/articles/s41746-020-00376-2</a:t>
            </a:r>
            <a:endParaRPr lang="en-US" u="sng" dirty="0">
              <a:latin typeface="Times New Roman" panose="02020603050405020304" pitchFamily="18" charset="0"/>
              <a:cs typeface="Times New Roman" panose="02020603050405020304" pitchFamily="18" charset="0"/>
            </a:endParaRPr>
          </a:p>
          <a:p>
            <a:endParaRPr lang="en-US" u="sng"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[7] Deloitte, "Mental Health and Well-Being in the Workplace," Deloitte Insights, 2022. [Online].  </a:t>
            </a:r>
            <a:r>
              <a:rPr lang="en-US" u="sng" dirty="0">
                <a:latin typeface="Times New Roman" panose="02020603050405020304" pitchFamily="18" charset="0"/>
                <a:cs typeface="Times New Roman" panose="02020603050405020304" pitchFamily="18" charset="0"/>
                <a:hlinkClick r:id="rId3"/>
              </a:rPr>
              <a:t>https://www.deloitte.com/global/en/Industries/life-sciences-health-care/perspectives/gx-mental-health-2022.html</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[8] U. </a:t>
            </a:r>
            <a:r>
              <a:rPr lang="en-IN" dirty="0" err="1">
                <a:latin typeface="Times New Roman" panose="02020603050405020304" pitchFamily="18" charset="0"/>
                <a:cs typeface="Times New Roman" panose="02020603050405020304" pitchFamily="18" charset="0"/>
              </a:rPr>
              <a:t>Madububambachu</a:t>
            </a:r>
            <a:r>
              <a:rPr lang="en-IN" dirty="0">
                <a:latin typeface="Times New Roman" panose="02020603050405020304" pitchFamily="18" charset="0"/>
                <a:cs typeface="Times New Roman" panose="02020603050405020304" pitchFamily="18" charset="0"/>
              </a:rPr>
              <a:t>, A. </a:t>
            </a:r>
            <a:r>
              <a:rPr lang="en-IN" dirty="0" err="1">
                <a:latin typeface="Times New Roman" panose="02020603050405020304" pitchFamily="18" charset="0"/>
                <a:cs typeface="Times New Roman" panose="02020603050405020304" pitchFamily="18" charset="0"/>
              </a:rPr>
              <a:t>Ukpebor</a:t>
            </a:r>
            <a:r>
              <a:rPr lang="en-IN" dirty="0">
                <a:latin typeface="Times New Roman" panose="02020603050405020304" pitchFamily="18" charset="0"/>
                <a:cs typeface="Times New Roman" panose="02020603050405020304" pitchFamily="18" charset="0"/>
              </a:rPr>
              <a:t>, and U. </a:t>
            </a:r>
            <a:r>
              <a:rPr lang="en-IN" dirty="0" err="1">
                <a:latin typeface="Times New Roman" panose="02020603050405020304" pitchFamily="18" charset="0"/>
                <a:cs typeface="Times New Roman" panose="02020603050405020304" pitchFamily="18" charset="0"/>
              </a:rPr>
              <a:t>Ihezue</a:t>
            </a:r>
            <a:r>
              <a:rPr lang="en-IN" dirty="0">
                <a:latin typeface="Times New Roman" panose="02020603050405020304" pitchFamily="18" charset="0"/>
                <a:cs typeface="Times New Roman" panose="02020603050405020304" pitchFamily="18" charset="0"/>
              </a:rPr>
              <a:t>, “Machine Learning Techniques to Predict Mental Health Diagnoses: A Systematic Literature Review,” </a:t>
            </a:r>
            <a:r>
              <a:rPr lang="en-IN" i="1" dirty="0">
                <a:latin typeface="Times New Roman" panose="02020603050405020304" pitchFamily="18" charset="0"/>
                <a:cs typeface="Times New Roman" panose="02020603050405020304" pitchFamily="18" charset="0"/>
              </a:rPr>
              <a:t>Clin. </a:t>
            </a:r>
            <a:r>
              <a:rPr lang="en-IN" i="1" dirty="0" err="1">
                <a:latin typeface="Times New Roman" panose="02020603050405020304" pitchFamily="18" charset="0"/>
                <a:cs typeface="Times New Roman" panose="02020603050405020304" pitchFamily="18" charset="0"/>
              </a:rPr>
              <a:t>Pract</a:t>
            </a:r>
            <a:r>
              <a:rPr lang="en-IN" i="1" dirty="0">
                <a:latin typeface="Times New Roman" panose="02020603050405020304" pitchFamily="18" charset="0"/>
                <a:cs typeface="Times New Roman" panose="02020603050405020304" pitchFamily="18" charset="0"/>
              </a:rPr>
              <a:t>. </a:t>
            </a:r>
            <a:r>
              <a:rPr lang="en-IN" i="1" dirty="0" err="1">
                <a:latin typeface="Times New Roman" panose="02020603050405020304" pitchFamily="18" charset="0"/>
                <a:cs typeface="Times New Roman" panose="02020603050405020304" pitchFamily="18" charset="0"/>
              </a:rPr>
              <a:t>Epidemiol</a:t>
            </a:r>
            <a:r>
              <a:rPr lang="en-IN" i="1" dirty="0">
                <a:latin typeface="Times New Roman" panose="02020603050405020304" pitchFamily="18" charset="0"/>
                <a:cs typeface="Times New Roman" panose="02020603050405020304" pitchFamily="18" charset="0"/>
              </a:rPr>
              <a:t>. Ment. Health</a:t>
            </a:r>
            <a:r>
              <a:rPr lang="en-IN" dirty="0">
                <a:latin typeface="Times New Roman" panose="02020603050405020304" pitchFamily="18" charset="0"/>
                <a:cs typeface="Times New Roman" panose="02020603050405020304" pitchFamily="18" charset="0"/>
              </a:rPr>
              <a:t>, vol. 20, p. e17450179315688, 2024. DOI: 10.2174/0117450179315688240607052117.</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[9] H. </a:t>
            </a:r>
            <a:r>
              <a:rPr lang="en-IN" dirty="0" err="1">
                <a:latin typeface="Times New Roman" panose="02020603050405020304" pitchFamily="18" charset="0"/>
                <a:cs typeface="Times New Roman" panose="02020603050405020304" pitchFamily="18" charset="0"/>
              </a:rPr>
              <a:t>Asnal</a:t>
            </a:r>
            <a:r>
              <a:rPr lang="en-IN" dirty="0">
                <a:latin typeface="Times New Roman" panose="02020603050405020304" pitchFamily="18" charset="0"/>
                <a:cs typeface="Times New Roman" panose="02020603050405020304" pitchFamily="18" charset="0"/>
              </a:rPr>
              <a:t>, K. </a:t>
            </a:r>
            <a:r>
              <a:rPr lang="en-IN" dirty="0" err="1">
                <a:latin typeface="Times New Roman" panose="02020603050405020304" pitchFamily="18" charset="0"/>
                <a:cs typeface="Times New Roman" panose="02020603050405020304" pitchFamily="18" charset="0"/>
              </a:rPr>
              <a:t>Andesa</a:t>
            </a:r>
            <a:r>
              <a:rPr lang="en-IN" dirty="0">
                <a:latin typeface="Times New Roman" panose="02020603050405020304" pitchFamily="18" charset="0"/>
                <a:cs typeface="Times New Roman" panose="02020603050405020304" pitchFamily="18" charset="0"/>
              </a:rPr>
              <a:t>, F. Erlin, and </a:t>
            </a:r>
            <a:r>
              <a:rPr lang="en-IN" dirty="0" err="1">
                <a:latin typeface="Times New Roman" panose="02020603050405020304" pitchFamily="18" charset="0"/>
                <a:cs typeface="Times New Roman" panose="02020603050405020304" pitchFamily="18" charset="0"/>
              </a:rPr>
              <a:t>Junadhi</a:t>
            </a:r>
            <a:r>
              <a:rPr lang="en-IN" dirty="0">
                <a:latin typeface="Times New Roman" panose="02020603050405020304" pitchFamily="18" charset="0"/>
                <a:cs typeface="Times New Roman" panose="02020603050405020304" pitchFamily="18" charset="0"/>
              </a:rPr>
              <a:t>, “Hybrid Machine Learning Model for Risk Prediction and Action Recommendation Based on Artificial Mental Systems,” </a:t>
            </a:r>
            <a:r>
              <a:rPr lang="en-IN" i="1" dirty="0">
                <a:latin typeface="Times New Roman" panose="02020603050405020304" pitchFamily="18" charset="0"/>
                <a:cs typeface="Times New Roman" panose="02020603050405020304" pitchFamily="18" charset="0"/>
              </a:rPr>
              <a:t>Universitas Sains dan </a:t>
            </a:r>
            <a:r>
              <a:rPr lang="en-IN" i="1" dirty="0" err="1">
                <a:latin typeface="Times New Roman" panose="02020603050405020304" pitchFamily="18" charset="0"/>
                <a:cs typeface="Times New Roman" panose="02020603050405020304" pitchFamily="18" charset="0"/>
              </a:rPr>
              <a:t>Teknologi</a:t>
            </a:r>
            <a:r>
              <a:rPr lang="en-IN" i="1" dirty="0">
                <a:latin typeface="Times New Roman" panose="02020603050405020304" pitchFamily="18" charset="0"/>
                <a:cs typeface="Times New Roman" panose="02020603050405020304" pitchFamily="18" charset="0"/>
              </a:rPr>
              <a:t> Indonesia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Pekanbaru</a:t>
            </a:r>
            <a:r>
              <a:rPr lang="en-IN" dirty="0">
                <a:latin typeface="Times New Roman" panose="02020603050405020304" pitchFamily="18" charset="0"/>
                <a:cs typeface="Times New Roman" panose="02020603050405020304" pitchFamily="18" charset="0"/>
              </a:rPr>
              <a:t>, Riau, Indonesia, 2025.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[10] A. Ahmed, S. Aziz, C. T. Toro, M. Alzubaidi, H. Abu Serhan, and M. </a:t>
            </a:r>
            <a:r>
              <a:rPr lang="en-IN" dirty="0" err="1">
                <a:latin typeface="Times New Roman" panose="02020603050405020304" pitchFamily="18" charset="0"/>
                <a:cs typeface="Times New Roman" panose="02020603050405020304" pitchFamily="18" charset="0"/>
              </a:rPr>
              <a:t>Househ</a:t>
            </a:r>
            <a:r>
              <a:rPr lang="en-IN" dirty="0">
                <a:latin typeface="Times New Roman" panose="02020603050405020304" pitchFamily="18" charset="0"/>
                <a:cs typeface="Times New Roman" panose="02020603050405020304" pitchFamily="18" charset="0"/>
              </a:rPr>
              <a:t>, “Machine learning models to detect anxiety and depression through social media: A scoping review,” </a:t>
            </a:r>
            <a:r>
              <a:rPr lang="en-IN" i="1" dirty="0">
                <a:latin typeface="Times New Roman" panose="02020603050405020304" pitchFamily="18" charset="0"/>
                <a:cs typeface="Times New Roman" panose="02020603050405020304" pitchFamily="18" charset="0"/>
              </a:rPr>
              <a:t>AI </a:t>
            </a:r>
            <a:r>
              <a:rPr lang="en-IN" i="1" dirty="0" err="1">
                <a:latin typeface="Times New Roman" panose="02020603050405020304" pitchFamily="18" charset="0"/>
                <a:cs typeface="Times New Roman" panose="02020603050405020304" pitchFamily="18" charset="0"/>
              </a:rPr>
              <a:t>Center</a:t>
            </a:r>
            <a:r>
              <a:rPr lang="en-IN" i="1" dirty="0">
                <a:latin typeface="Times New Roman" panose="02020603050405020304" pitchFamily="18" charset="0"/>
                <a:cs typeface="Times New Roman" panose="02020603050405020304" pitchFamily="18" charset="0"/>
              </a:rPr>
              <a:t> for Precision Health, Weill Cornell Medicine-Qatar</a:t>
            </a:r>
            <a:r>
              <a:rPr lang="en-IN" dirty="0">
                <a:latin typeface="Times New Roman" panose="02020603050405020304" pitchFamily="18" charset="0"/>
                <a:cs typeface="Times New Roman" panose="02020603050405020304" pitchFamily="18" charset="0"/>
              </a:rPr>
              <a:t>, Doha, Qatar, 2025.</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C953117-9BC8-9048-1674-7DFF927164F0}"/>
              </a:ext>
            </a:extLst>
          </p:cNvPr>
          <p:cNvPicPr>
            <a:picLocks noChangeAspect="1"/>
          </p:cNvPicPr>
          <p:nvPr/>
        </p:nvPicPr>
        <p:blipFill>
          <a:blip r:embed="rId4"/>
          <a:stretch>
            <a:fillRect/>
          </a:stretch>
        </p:blipFill>
        <p:spPr>
          <a:xfrm>
            <a:off x="9549114" y="228600"/>
            <a:ext cx="1976328" cy="951015"/>
          </a:xfrm>
          <a:prstGeom prst="rect">
            <a:avLst/>
          </a:prstGeom>
        </p:spPr>
      </p:pic>
      <p:sp>
        <p:nvSpPr>
          <p:cNvPr id="3" name="Slide Number Placeholder 2">
            <a:extLst>
              <a:ext uri="{FF2B5EF4-FFF2-40B4-BE49-F238E27FC236}">
                <a16:creationId xmlns:a16="http://schemas.microsoft.com/office/drawing/2014/main" id="{77962FBF-CD15-B026-AE9D-676CF3BC4A06}"/>
              </a:ext>
            </a:extLst>
          </p:cNvPr>
          <p:cNvSpPr>
            <a:spLocks noGrp="1"/>
          </p:cNvSpPr>
          <p:nvPr>
            <p:ph type="sldNum" sz="quarter" idx="12"/>
          </p:nvPr>
        </p:nvSpPr>
        <p:spPr/>
        <p:txBody>
          <a:bodyPr/>
          <a:lstStyle/>
          <a:p>
            <a:fld id="{D0063D55-1E1F-42B3-9539-F98231BC29CD}" type="slidenum">
              <a:rPr lang="en-IN" smtClean="0"/>
              <a:t>22</a:t>
            </a:fld>
            <a:endParaRPr lang="en-IN" dirty="0"/>
          </a:p>
        </p:txBody>
      </p:sp>
    </p:spTree>
    <p:extLst>
      <p:ext uri="{BB962C8B-B14F-4D97-AF65-F5344CB8AC3E}">
        <p14:creationId xmlns:p14="http://schemas.microsoft.com/office/powerpoint/2010/main" val="117186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A476C5-118D-E144-EB3A-96976D54E468}"/>
              </a:ext>
            </a:extLst>
          </p:cNvPr>
          <p:cNvSpPr>
            <a:spLocks noGrp="1"/>
          </p:cNvSpPr>
          <p:nvPr>
            <p:ph idx="1"/>
          </p:nvPr>
        </p:nvSpPr>
        <p:spPr/>
        <p:txBody>
          <a:bodyPr>
            <a:normAutofit/>
          </a:bodyPr>
          <a:lstStyle/>
          <a:p>
            <a:pPr marL="0" indent="0" algn="ctr">
              <a:buNone/>
            </a:pPr>
            <a:r>
              <a:rPr lang="en-US" sz="16600" dirty="0">
                <a:latin typeface="Times New Roman" panose="02020603050405020304" pitchFamily="18" charset="0"/>
                <a:cs typeface="Times New Roman" panose="02020603050405020304" pitchFamily="18" charset="0"/>
              </a:rPr>
              <a:t> Thank You</a:t>
            </a:r>
            <a:endParaRPr lang="en-IN" sz="16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4961F3D-9FA9-1D98-F2A9-3A250F748364}"/>
              </a:ext>
            </a:extLst>
          </p:cNvPr>
          <p:cNvPicPr>
            <a:picLocks noChangeAspect="1"/>
          </p:cNvPicPr>
          <p:nvPr/>
        </p:nvPicPr>
        <p:blipFill>
          <a:blip r:embed="rId2"/>
          <a:stretch>
            <a:fillRect/>
          </a:stretch>
        </p:blipFill>
        <p:spPr>
          <a:xfrm>
            <a:off x="10046824" y="218661"/>
            <a:ext cx="1756409" cy="845189"/>
          </a:xfrm>
          <a:prstGeom prst="rect">
            <a:avLst/>
          </a:prstGeom>
        </p:spPr>
      </p:pic>
      <p:sp>
        <p:nvSpPr>
          <p:cNvPr id="2" name="Slide Number Placeholder 1">
            <a:extLst>
              <a:ext uri="{FF2B5EF4-FFF2-40B4-BE49-F238E27FC236}">
                <a16:creationId xmlns:a16="http://schemas.microsoft.com/office/drawing/2014/main" id="{7899559D-B5F4-ECD7-FAAB-D3465F46F5D6}"/>
              </a:ext>
            </a:extLst>
          </p:cNvPr>
          <p:cNvSpPr>
            <a:spLocks noGrp="1"/>
          </p:cNvSpPr>
          <p:nvPr>
            <p:ph type="sldNum" sz="quarter" idx="12"/>
          </p:nvPr>
        </p:nvSpPr>
        <p:spPr/>
        <p:txBody>
          <a:bodyPr/>
          <a:lstStyle/>
          <a:p>
            <a:fld id="{D0063D55-1E1F-42B3-9539-F98231BC29CD}" type="slidenum">
              <a:rPr lang="en-IN" smtClean="0"/>
              <a:t>23</a:t>
            </a:fld>
            <a:endParaRPr lang="en-IN" dirty="0"/>
          </a:p>
        </p:txBody>
      </p:sp>
    </p:spTree>
    <p:extLst>
      <p:ext uri="{BB962C8B-B14F-4D97-AF65-F5344CB8AC3E}">
        <p14:creationId xmlns:p14="http://schemas.microsoft.com/office/powerpoint/2010/main" val="3683134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7186</TotalTime>
  <Words>1610</Words>
  <Application>Microsoft Office PowerPoint</Application>
  <PresentationFormat>Widescreen</PresentationFormat>
  <Paragraphs>207</Paragraphs>
  <Slides>23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Times New Roman</vt:lpstr>
      <vt:lpstr>Wingdings</vt:lpstr>
      <vt:lpstr>Office Theme</vt:lpstr>
      <vt:lpstr>PowerPoint Presentation</vt:lpstr>
      <vt:lpstr>Introduction</vt:lpstr>
      <vt:lpstr>Research Problem:</vt:lpstr>
      <vt:lpstr>Motivation &amp; Real-World Importance  </vt:lpstr>
      <vt:lpstr>Literature Review: Summary of Related Work  </vt:lpstr>
      <vt:lpstr>Summary of Related Work  </vt:lpstr>
      <vt:lpstr>Technologies, and Methodologies</vt:lpstr>
      <vt:lpstr>Research Gaps and Challenges</vt:lpstr>
      <vt:lpstr>PowerPoint Presentation</vt:lpstr>
      <vt:lpstr>Novelty</vt:lpstr>
      <vt:lpstr>Key Contributions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Bhargav Prajwal Pathri</dc:creator>
  <cp:lastModifiedBy>Mohitha Bandi</cp:lastModifiedBy>
  <cp:revision>53</cp:revision>
  <dcterms:created xsi:type="dcterms:W3CDTF">2025-01-17T09:26:04Z</dcterms:created>
  <dcterms:modified xsi:type="dcterms:W3CDTF">2026-02-25T06:37:08Z</dcterms:modified>
</cp:coreProperties>
</file>